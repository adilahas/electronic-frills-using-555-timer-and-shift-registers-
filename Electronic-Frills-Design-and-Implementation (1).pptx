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Fira Sans" panose="020B0503050000020004" pitchFamily="34" charset="0"/>
      <p:regular r:id="rId14"/>
      <p:bold r:id="rId15"/>
      <p:boldItalic r:id="rId16"/>
    </p:embeddedFont>
    <p:embeddedFont>
      <p:font typeface="Inconsolata Bold" pitchFamily="1" charset="0"/>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18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529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1881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Electronic Frills: Design and Implementation</a:t>
            </a:r>
            <a:endParaRPr lang="en-US" sz="4450" dirty="0"/>
          </a:p>
        </p:txBody>
      </p:sp>
      <p:sp>
        <p:nvSpPr>
          <p:cNvPr id="4" name="Text 1"/>
          <p:cNvSpPr/>
          <p:nvPr/>
        </p:nvSpPr>
        <p:spPr>
          <a:xfrm>
            <a:off x="793790" y="2776538"/>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Project Title: Dynamic LED Pattern Generation using Shift Registers &amp; Counters.</a:t>
            </a:r>
            <a:endParaRPr lang="en-US" sz="1750" dirty="0"/>
          </a:p>
        </p:txBody>
      </p:sp>
      <p:sp>
        <p:nvSpPr>
          <p:cNvPr id="5" name="Text 2"/>
          <p:cNvSpPr/>
          <p:nvPr/>
        </p:nvSpPr>
        <p:spPr>
          <a:xfrm>
            <a:off x="793790" y="3757493"/>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 </a:t>
            </a:r>
            <a:endParaRPr lang="en-US" sz="1750" dirty="0"/>
          </a:p>
        </p:txBody>
      </p:sp>
      <p:sp>
        <p:nvSpPr>
          <p:cNvPr id="6" name="Text 3"/>
          <p:cNvSpPr/>
          <p:nvPr/>
        </p:nvSpPr>
        <p:spPr>
          <a:xfrm>
            <a:off x="793790" y="4375547"/>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Text 4"/>
          <p:cNvSpPr/>
          <p:nvPr/>
        </p:nvSpPr>
        <p:spPr>
          <a:xfrm>
            <a:off x="793790" y="4993600"/>
            <a:ext cx="7556421" cy="362903"/>
          </a:xfrm>
          <a:prstGeom prst="rect">
            <a:avLst/>
          </a:prstGeom>
          <a:noFill/>
          <a:ln/>
        </p:spPr>
        <p:txBody>
          <a:bodyPr wrap="none" lIns="0" tIns="0" rIns="0" bIns="0" rtlCol="0" anchor="t"/>
          <a:lstStyle/>
          <a:p>
            <a:pPr marL="0" indent="0" algn="l">
              <a:lnSpc>
                <a:spcPts val="2850"/>
              </a:lnSpc>
              <a:buNone/>
            </a:pPr>
            <a:r>
              <a:rPr lang="en-US" sz="1750" dirty="0" err="1">
                <a:solidFill>
                  <a:srgbClr val="DAD1E6"/>
                </a:solidFill>
                <a:latin typeface="Fira Sans" pitchFamily="34" charset="0"/>
                <a:ea typeface="Fira Sans" pitchFamily="34" charset="-122"/>
                <a:cs typeface="Fira Sans" pitchFamily="34" charset="-120"/>
              </a:rPr>
              <a:t>Adhil</a:t>
            </a:r>
            <a:r>
              <a:rPr lang="en-US" sz="1750" dirty="0">
                <a:solidFill>
                  <a:srgbClr val="DAD1E6"/>
                </a:solidFill>
                <a:latin typeface="Fira Sans" pitchFamily="34" charset="0"/>
                <a:ea typeface="Fira Sans" pitchFamily="34" charset="-122"/>
                <a:cs typeface="Fira Sans" pitchFamily="34" charset="-120"/>
              </a:rPr>
              <a:t> Hashim </a:t>
            </a:r>
            <a:endParaRPr lang="en-US" sz="1750" dirty="0"/>
          </a:p>
        </p:txBody>
      </p:sp>
      <p:sp>
        <p:nvSpPr>
          <p:cNvPr id="8" name="Text 5"/>
          <p:cNvSpPr/>
          <p:nvPr/>
        </p:nvSpPr>
        <p:spPr>
          <a:xfrm>
            <a:off x="793790" y="5611654"/>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9" name="Text 6"/>
          <p:cNvSpPr/>
          <p:nvPr/>
        </p:nvSpPr>
        <p:spPr>
          <a:xfrm>
            <a:off x="793790" y="6229707"/>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Text 7"/>
          <p:cNvSpPr/>
          <p:nvPr/>
        </p:nvSpPr>
        <p:spPr>
          <a:xfrm>
            <a:off x="793790" y="6847761"/>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Guide: </a:t>
            </a:r>
            <a:r>
              <a:rPr lang="en-US" sz="1750" b="1" i="1" dirty="0">
                <a:solidFill>
                  <a:srgbClr val="DAD1E6"/>
                </a:solidFill>
                <a:latin typeface="Fira Sans" pitchFamily="34" charset="0"/>
                <a:ea typeface="Fira Sans" pitchFamily="34" charset="-122"/>
                <a:cs typeface="Fira Sans" pitchFamily="34" charset="-120"/>
              </a:rPr>
              <a:t>Dr. Gurleen Kaur Walia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4822" y="617101"/>
            <a:ext cx="6323767" cy="632460"/>
          </a:xfrm>
          <a:prstGeom prst="rect">
            <a:avLst/>
          </a:prstGeom>
          <a:noFill/>
          <a:ln/>
        </p:spPr>
        <p:txBody>
          <a:bodyPr wrap="none" lIns="0" tIns="0" rIns="0" bIns="0" rtlCol="0" anchor="t"/>
          <a:lstStyle/>
          <a:p>
            <a:pPr marL="0" indent="0" algn="l">
              <a:lnSpc>
                <a:spcPts val="4950"/>
              </a:lnSpc>
              <a:buNone/>
            </a:pPr>
            <a:r>
              <a:rPr lang="en-US" sz="3950" b="1" dirty="0">
                <a:solidFill>
                  <a:srgbClr val="F94CAF"/>
                </a:solidFill>
                <a:latin typeface="Inconsolata Bold" pitchFamily="34" charset="0"/>
                <a:ea typeface="Inconsolata Bold" pitchFamily="34" charset="-122"/>
                <a:cs typeface="Inconsolata Bold" pitchFamily="34" charset="-120"/>
              </a:rPr>
              <a:t>Introduction &amp; Motivation</a:t>
            </a:r>
            <a:endParaRPr lang="en-US" sz="3950" dirty="0"/>
          </a:p>
        </p:txBody>
      </p:sp>
      <p:sp>
        <p:nvSpPr>
          <p:cNvPr id="4" name="Shape 1"/>
          <p:cNvSpPr/>
          <p:nvPr/>
        </p:nvSpPr>
        <p:spPr>
          <a:xfrm>
            <a:off x="6194822" y="1780818"/>
            <a:ext cx="455414" cy="455414"/>
          </a:xfrm>
          <a:prstGeom prst="roundRect">
            <a:avLst>
              <a:gd name="adj" fmla="val 6667"/>
            </a:avLst>
          </a:prstGeom>
          <a:solidFill>
            <a:srgbClr val="433550"/>
          </a:solidFill>
          <a:ln/>
        </p:spPr>
      </p:sp>
      <p:sp>
        <p:nvSpPr>
          <p:cNvPr id="5" name="Text 2"/>
          <p:cNvSpPr/>
          <p:nvPr/>
        </p:nvSpPr>
        <p:spPr>
          <a:xfrm>
            <a:off x="6852642" y="1780818"/>
            <a:ext cx="3104555" cy="632460"/>
          </a:xfrm>
          <a:prstGeom prst="rect">
            <a:avLst/>
          </a:prstGeom>
          <a:noFill/>
          <a:ln/>
        </p:spPr>
        <p:txBody>
          <a:bodyPr wrap="square" lIns="0" tIns="0" rIns="0" bIns="0" rtlCol="0" anchor="t"/>
          <a:lstStyle/>
          <a:p>
            <a:pPr marL="0" indent="0" algn="l">
              <a:lnSpc>
                <a:spcPts val="2450"/>
              </a:lnSpc>
              <a:buNone/>
            </a:pPr>
            <a:r>
              <a:rPr lang="en-US" sz="1950" b="1" dirty="0">
                <a:solidFill>
                  <a:srgbClr val="DAD1E6"/>
                </a:solidFill>
                <a:latin typeface="Inconsolata Bold" pitchFamily="34" charset="0"/>
                <a:ea typeface="Inconsolata Bold" pitchFamily="34" charset="-122"/>
                <a:cs typeface="Inconsolata Bold" pitchFamily="34" charset="-120"/>
              </a:rPr>
              <a:t>What are Electronic Frills?</a:t>
            </a:r>
            <a:endParaRPr lang="en-US" sz="1950" dirty="0"/>
          </a:p>
        </p:txBody>
      </p:sp>
      <p:sp>
        <p:nvSpPr>
          <p:cNvPr id="6" name="Text 3"/>
          <p:cNvSpPr/>
          <p:nvPr/>
        </p:nvSpPr>
        <p:spPr>
          <a:xfrm>
            <a:off x="6852642" y="2534722"/>
            <a:ext cx="3104555" cy="2590800"/>
          </a:xfrm>
          <a:prstGeom prst="rect">
            <a:avLst/>
          </a:prstGeom>
          <a:noFill/>
          <a:ln/>
        </p:spPr>
        <p:txBody>
          <a:bodyPr wrap="square" lIns="0" tIns="0" rIns="0" bIns="0" rtlCol="0" anchor="t"/>
          <a:lstStyle/>
          <a:p>
            <a:pPr marL="0" indent="0" algn="l">
              <a:lnSpc>
                <a:spcPts val="2550"/>
              </a:lnSpc>
              <a:buNone/>
            </a:pPr>
            <a:r>
              <a:rPr lang="en-US" sz="1550" dirty="0">
                <a:solidFill>
                  <a:srgbClr val="DAD1E6"/>
                </a:solidFill>
                <a:latin typeface="Fira Sans" pitchFamily="34" charset="0"/>
                <a:ea typeface="Fira Sans" pitchFamily="34" charset="-122"/>
                <a:cs typeface="Fira Sans" pitchFamily="34" charset="-120"/>
              </a:rPr>
              <a:t>Decorative or aesthetic electronic elements designed to enhance visual appeal and attract attention in various settings. They incorporate lights and patterns that bring an interactive and modern touch to traditional displays.</a:t>
            </a:r>
            <a:endParaRPr lang="en-US" sz="1550" dirty="0"/>
          </a:p>
        </p:txBody>
      </p:sp>
      <p:sp>
        <p:nvSpPr>
          <p:cNvPr id="7" name="Shape 4"/>
          <p:cNvSpPr/>
          <p:nvPr/>
        </p:nvSpPr>
        <p:spPr>
          <a:xfrm>
            <a:off x="10159603" y="1780818"/>
            <a:ext cx="455414" cy="455414"/>
          </a:xfrm>
          <a:prstGeom prst="roundRect">
            <a:avLst>
              <a:gd name="adj" fmla="val 6667"/>
            </a:avLst>
          </a:prstGeom>
          <a:solidFill>
            <a:srgbClr val="433550"/>
          </a:solidFill>
          <a:ln/>
        </p:spPr>
      </p:sp>
      <p:sp>
        <p:nvSpPr>
          <p:cNvPr id="8" name="Text 5"/>
          <p:cNvSpPr/>
          <p:nvPr/>
        </p:nvSpPr>
        <p:spPr>
          <a:xfrm>
            <a:off x="10817423" y="1780818"/>
            <a:ext cx="3104555" cy="632460"/>
          </a:xfrm>
          <a:prstGeom prst="rect">
            <a:avLst/>
          </a:prstGeom>
          <a:noFill/>
          <a:ln/>
        </p:spPr>
        <p:txBody>
          <a:bodyPr wrap="square" lIns="0" tIns="0" rIns="0" bIns="0" rtlCol="0" anchor="t"/>
          <a:lstStyle/>
          <a:p>
            <a:pPr marL="0" indent="0" algn="l">
              <a:lnSpc>
                <a:spcPts val="2450"/>
              </a:lnSpc>
              <a:buNone/>
            </a:pPr>
            <a:r>
              <a:rPr lang="en-US" sz="1950" b="1" dirty="0">
                <a:solidFill>
                  <a:srgbClr val="DAD1E6"/>
                </a:solidFill>
                <a:latin typeface="Inconsolata Bold" pitchFamily="34" charset="0"/>
                <a:ea typeface="Inconsolata Bold" pitchFamily="34" charset="-122"/>
                <a:cs typeface="Inconsolata Bold" pitchFamily="34" charset="-120"/>
              </a:rPr>
              <a:t>Why Dynamic LED Patterns?</a:t>
            </a:r>
            <a:endParaRPr lang="en-US" sz="1950" dirty="0"/>
          </a:p>
        </p:txBody>
      </p:sp>
      <p:sp>
        <p:nvSpPr>
          <p:cNvPr id="9" name="Text 6"/>
          <p:cNvSpPr/>
          <p:nvPr/>
        </p:nvSpPr>
        <p:spPr>
          <a:xfrm>
            <a:off x="10817423" y="2534722"/>
            <a:ext cx="3104555" cy="2914650"/>
          </a:xfrm>
          <a:prstGeom prst="rect">
            <a:avLst/>
          </a:prstGeom>
          <a:noFill/>
          <a:ln/>
        </p:spPr>
        <p:txBody>
          <a:bodyPr wrap="square" lIns="0" tIns="0" rIns="0" bIns="0" rtlCol="0" anchor="t"/>
          <a:lstStyle/>
          <a:p>
            <a:pPr marL="0" indent="0" algn="l">
              <a:lnSpc>
                <a:spcPts val="2550"/>
              </a:lnSpc>
              <a:buNone/>
            </a:pPr>
            <a:r>
              <a:rPr lang="en-US" sz="1550" dirty="0">
                <a:solidFill>
                  <a:srgbClr val="DAD1E6"/>
                </a:solidFill>
                <a:latin typeface="Fira Sans" pitchFamily="34" charset="0"/>
                <a:ea typeface="Fira Sans" pitchFamily="34" charset="-122"/>
                <a:cs typeface="Fira Sans" pitchFamily="34" charset="-120"/>
              </a:rPr>
              <a:t>Dynamic LED patterns offer customizable and visually stimulating effects that can be tailored to different moods or themes. These patterns increase engagement and can transform any environment by adding vibrant and ever-changing lighting effects.</a:t>
            </a:r>
            <a:endParaRPr lang="en-US" sz="1550" dirty="0"/>
          </a:p>
        </p:txBody>
      </p:sp>
      <p:sp>
        <p:nvSpPr>
          <p:cNvPr id="10" name="Shape 7"/>
          <p:cNvSpPr/>
          <p:nvPr/>
        </p:nvSpPr>
        <p:spPr>
          <a:xfrm>
            <a:off x="6194822" y="5879425"/>
            <a:ext cx="455414" cy="455414"/>
          </a:xfrm>
          <a:prstGeom prst="roundRect">
            <a:avLst>
              <a:gd name="adj" fmla="val 6667"/>
            </a:avLst>
          </a:prstGeom>
          <a:solidFill>
            <a:srgbClr val="433550"/>
          </a:solidFill>
          <a:ln/>
        </p:spPr>
      </p:sp>
      <p:sp>
        <p:nvSpPr>
          <p:cNvPr id="11" name="Text 8"/>
          <p:cNvSpPr/>
          <p:nvPr/>
        </p:nvSpPr>
        <p:spPr>
          <a:xfrm>
            <a:off x="6852642" y="5879425"/>
            <a:ext cx="2530078" cy="316230"/>
          </a:xfrm>
          <a:prstGeom prst="rect">
            <a:avLst/>
          </a:prstGeom>
          <a:noFill/>
          <a:ln/>
        </p:spPr>
        <p:txBody>
          <a:bodyPr wrap="none" lIns="0" tIns="0" rIns="0" bIns="0" rtlCol="0" anchor="t"/>
          <a:lstStyle/>
          <a:p>
            <a:pPr marL="0" indent="0" algn="l">
              <a:lnSpc>
                <a:spcPts val="2450"/>
              </a:lnSpc>
              <a:buNone/>
            </a:pPr>
            <a:r>
              <a:rPr lang="en-US" sz="1950" b="1" dirty="0">
                <a:solidFill>
                  <a:srgbClr val="DAD1E6"/>
                </a:solidFill>
                <a:latin typeface="Inconsolata Bold" pitchFamily="34" charset="0"/>
                <a:ea typeface="Inconsolata Bold" pitchFamily="34" charset="-122"/>
                <a:cs typeface="Inconsolata Bold" pitchFamily="34" charset="-120"/>
              </a:rPr>
              <a:t>Real-World Uses</a:t>
            </a:r>
            <a:endParaRPr lang="en-US" sz="1950" dirty="0"/>
          </a:p>
        </p:txBody>
      </p:sp>
      <p:sp>
        <p:nvSpPr>
          <p:cNvPr id="12" name="Text 9"/>
          <p:cNvSpPr/>
          <p:nvPr/>
        </p:nvSpPr>
        <p:spPr>
          <a:xfrm>
            <a:off x="6852642" y="6317099"/>
            <a:ext cx="7069336" cy="1295400"/>
          </a:xfrm>
          <a:prstGeom prst="rect">
            <a:avLst/>
          </a:prstGeom>
          <a:noFill/>
          <a:ln/>
        </p:spPr>
        <p:txBody>
          <a:bodyPr wrap="square" lIns="0" tIns="0" rIns="0" bIns="0" rtlCol="0" anchor="t"/>
          <a:lstStyle/>
          <a:p>
            <a:pPr marL="0" indent="0" algn="l">
              <a:lnSpc>
                <a:spcPts val="2550"/>
              </a:lnSpc>
              <a:buNone/>
            </a:pPr>
            <a:r>
              <a:rPr lang="en-US" sz="1550" dirty="0">
                <a:solidFill>
                  <a:srgbClr val="DAD1E6"/>
                </a:solidFill>
                <a:latin typeface="Fira Sans" pitchFamily="34" charset="0"/>
                <a:ea typeface="Fira Sans" pitchFamily="34" charset="-122"/>
                <a:cs typeface="Fira Sans" pitchFamily="34" charset="-120"/>
              </a:rPr>
              <a:t>Applications include home decor to create ambiance, signage to attract customers, event displays for immersive experiences, and art installations that use lighting as a medium to tell a story or evoke emotions. The adaptability of LED patterns allows creative expression in multiple domains.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7359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Objectives &amp; Scope</a:t>
            </a:r>
            <a:endParaRPr lang="en-US" sz="4450" dirty="0"/>
          </a:p>
        </p:txBody>
      </p:sp>
      <p:sp>
        <p:nvSpPr>
          <p:cNvPr id="3" name="Text 1"/>
          <p:cNvSpPr/>
          <p:nvPr/>
        </p:nvSpPr>
        <p:spPr>
          <a:xfrm>
            <a:off x="793790" y="24493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Key Goals</a:t>
            </a:r>
            <a:endParaRPr lang="en-US" sz="2200" dirty="0"/>
          </a:p>
        </p:txBody>
      </p:sp>
      <p:sp>
        <p:nvSpPr>
          <p:cNvPr id="4" name="Text 2"/>
          <p:cNvSpPr/>
          <p:nvPr/>
        </p:nvSpPr>
        <p:spPr>
          <a:xfrm>
            <a:off x="793790" y="303049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Design diverse LED patterns that are visually appealing and customizable for different applications.</a:t>
            </a:r>
            <a:endParaRPr lang="en-US" sz="1750" dirty="0"/>
          </a:p>
        </p:txBody>
      </p:sp>
      <p:sp>
        <p:nvSpPr>
          <p:cNvPr id="5" name="Text 3"/>
          <p:cNvSpPr/>
          <p:nvPr/>
        </p:nvSpPr>
        <p:spPr>
          <a:xfrm>
            <a:off x="793790" y="383559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Minimize I/O pins usage to optimize hardware efficiency and reduce complexity in circuit design.</a:t>
            </a:r>
            <a:endParaRPr lang="en-US" sz="1750" dirty="0"/>
          </a:p>
        </p:txBody>
      </p:sp>
      <p:sp>
        <p:nvSpPr>
          <p:cNvPr id="6" name="Text 4"/>
          <p:cNvSpPr/>
          <p:nvPr/>
        </p:nvSpPr>
        <p:spPr>
          <a:xfrm>
            <a:off x="793790" y="4640699"/>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Develop a flexible system architecture that supports easy modifications and expansions.</a:t>
            </a:r>
            <a:endParaRPr lang="en-US" sz="1750" dirty="0"/>
          </a:p>
        </p:txBody>
      </p:sp>
      <p:sp>
        <p:nvSpPr>
          <p:cNvPr id="7" name="Text 5"/>
          <p:cNvSpPr/>
          <p:nvPr/>
        </p:nvSpPr>
        <p:spPr>
          <a:xfrm>
            <a:off x="793790" y="544580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Ensure reliable and stable operation of the LED patterns under various conditions.</a:t>
            </a:r>
            <a:endParaRPr lang="en-US" sz="1750" dirty="0"/>
          </a:p>
        </p:txBody>
      </p:sp>
      <p:sp>
        <p:nvSpPr>
          <p:cNvPr id="8" name="Text 6"/>
          <p:cNvSpPr/>
          <p:nvPr/>
        </p:nvSpPr>
        <p:spPr>
          <a:xfrm>
            <a:off x="7599521" y="244935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Scope &amp; Future</a:t>
            </a:r>
            <a:endParaRPr lang="en-US" sz="2200" dirty="0"/>
          </a:p>
        </p:txBody>
      </p:sp>
      <p:sp>
        <p:nvSpPr>
          <p:cNvPr id="9" name="Text 7"/>
          <p:cNvSpPr/>
          <p:nvPr/>
        </p:nvSpPr>
        <p:spPr>
          <a:xfrm>
            <a:off x="7599521" y="303049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Start with a small-scale demonstration featuring a limited number of LEDs to validate the concept.</a:t>
            </a:r>
            <a:endParaRPr lang="en-US" sz="1750" dirty="0"/>
          </a:p>
        </p:txBody>
      </p:sp>
      <p:sp>
        <p:nvSpPr>
          <p:cNvPr id="10" name="Text 8"/>
          <p:cNvSpPr/>
          <p:nvPr/>
        </p:nvSpPr>
        <p:spPr>
          <a:xfrm>
            <a:off x="7599521" y="383559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Plan scaling up the design to accommodate larger LED arrays for more complex pattern generation.</a:t>
            </a:r>
            <a:endParaRPr lang="en-US" sz="1750" dirty="0"/>
          </a:p>
        </p:txBody>
      </p:sp>
      <p:sp>
        <p:nvSpPr>
          <p:cNvPr id="11" name="Text 9"/>
          <p:cNvSpPr/>
          <p:nvPr/>
        </p:nvSpPr>
        <p:spPr>
          <a:xfrm>
            <a:off x="7599521" y="4640699"/>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Integrate microcontroller units to enhance control capabilities and enable programmability.</a:t>
            </a:r>
            <a:endParaRPr lang="en-US" sz="1750" dirty="0"/>
          </a:p>
        </p:txBody>
      </p:sp>
      <p:sp>
        <p:nvSpPr>
          <p:cNvPr id="12" name="Text 10"/>
          <p:cNvSpPr/>
          <p:nvPr/>
        </p:nvSpPr>
        <p:spPr>
          <a:xfrm>
            <a:off x="7599521" y="544580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Explore potential real-world applications such as decorative lighting, signage, and interactive displays.</a:t>
            </a:r>
            <a:endParaRPr lang="en-US" sz="1750" dirty="0"/>
          </a:p>
        </p:txBody>
      </p:sp>
      <p:sp>
        <p:nvSpPr>
          <p:cNvPr id="13" name="Text 11"/>
          <p:cNvSpPr/>
          <p:nvPr/>
        </p:nvSpPr>
        <p:spPr>
          <a:xfrm>
            <a:off x="7599521" y="6250900"/>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Consider future improvements like wireless control and sensor integration for dynamic responsiveness.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41100" y="669250"/>
            <a:ext cx="5682020" cy="406003"/>
          </a:xfrm>
          <a:prstGeom prst="rect">
            <a:avLst/>
          </a:prstGeom>
          <a:noFill/>
          <a:ln/>
        </p:spPr>
        <p:txBody>
          <a:bodyPr wrap="none" lIns="0" tIns="0" rIns="0" bIns="0" rtlCol="0" anchor="t"/>
          <a:lstStyle/>
          <a:p>
            <a:pPr marL="0" indent="0" algn="l">
              <a:lnSpc>
                <a:spcPts val="3150"/>
              </a:lnSpc>
              <a:buNone/>
            </a:pPr>
            <a:r>
              <a:rPr lang="en-US" sz="2550" b="1" dirty="0">
                <a:solidFill>
                  <a:srgbClr val="F94CAF"/>
                </a:solidFill>
                <a:latin typeface="Inconsolata Bold" pitchFamily="34" charset="0"/>
                <a:ea typeface="Inconsolata Bold" pitchFamily="34" charset="-122"/>
                <a:cs typeface="Inconsolata Bold" pitchFamily="34" charset="-120"/>
              </a:rPr>
              <a:t>Theory: 555 Timer &amp; Shift Registors</a:t>
            </a:r>
            <a:endParaRPr lang="en-US" sz="2550" dirty="0"/>
          </a:p>
        </p:txBody>
      </p:sp>
      <p:sp>
        <p:nvSpPr>
          <p:cNvPr id="4" name="Shape 1"/>
          <p:cNvSpPr/>
          <p:nvPr/>
        </p:nvSpPr>
        <p:spPr>
          <a:xfrm>
            <a:off x="5941100" y="1270040"/>
            <a:ext cx="8234601" cy="956191"/>
          </a:xfrm>
          <a:prstGeom prst="roundRect">
            <a:avLst>
              <a:gd name="adj" fmla="val 2038"/>
            </a:avLst>
          </a:prstGeom>
          <a:solidFill>
            <a:srgbClr val="433550"/>
          </a:solidFill>
          <a:ln/>
        </p:spPr>
      </p:sp>
      <p:sp>
        <p:nvSpPr>
          <p:cNvPr id="5" name="Text 2"/>
          <p:cNvSpPr/>
          <p:nvPr/>
        </p:nvSpPr>
        <p:spPr>
          <a:xfrm>
            <a:off x="6070997" y="1399937"/>
            <a:ext cx="1624012" cy="203002"/>
          </a:xfrm>
          <a:prstGeom prst="rect">
            <a:avLst/>
          </a:prstGeom>
          <a:noFill/>
          <a:ln/>
        </p:spPr>
        <p:txBody>
          <a:bodyPr wrap="none" lIns="0" tIns="0" rIns="0" bIns="0" rtlCol="0" anchor="t"/>
          <a:lstStyle/>
          <a:p>
            <a:pPr marL="0" indent="0" algn="l">
              <a:lnSpc>
                <a:spcPts val="1550"/>
              </a:lnSpc>
              <a:buNone/>
            </a:pPr>
            <a:r>
              <a:rPr lang="en-US" sz="1250" b="1" dirty="0">
                <a:solidFill>
                  <a:srgbClr val="DAD1E6"/>
                </a:solidFill>
                <a:latin typeface="Inconsolata Bold" pitchFamily="34" charset="0"/>
                <a:ea typeface="Inconsolata Bold" pitchFamily="34" charset="-122"/>
                <a:cs typeface="Inconsolata Bold" pitchFamily="34" charset="-120"/>
              </a:rPr>
              <a:t>555 Timer</a:t>
            </a:r>
            <a:endParaRPr lang="en-US" sz="1250" dirty="0"/>
          </a:p>
        </p:txBody>
      </p:sp>
      <p:sp>
        <p:nvSpPr>
          <p:cNvPr id="6" name="Text 3"/>
          <p:cNvSpPr/>
          <p:nvPr/>
        </p:nvSpPr>
        <p:spPr>
          <a:xfrm>
            <a:off x="6070997" y="1680805"/>
            <a:ext cx="7974806" cy="415528"/>
          </a:xfrm>
          <a:prstGeom prst="rect">
            <a:avLst/>
          </a:prstGeom>
          <a:noFill/>
          <a:ln/>
        </p:spPr>
        <p:txBody>
          <a:bodyPr wrap="square" lIns="0" tIns="0" rIns="0" bIns="0" rtlCol="0" anchor="t"/>
          <a:lstStyle/>
          <a:p>
            <a:pPr marL="0" indent="0" algn="l">
              <a:lnSpc>
                <a:spcPts val="1600"/>
              </a:lnSpc>
              <a:buNone/>
            </a:pPr>
            <a:r>
              <a:rPr lang="en-US" sz="1000" dirty="0">
                <a:solidFill>
                  <a:srgbClr val="DAD1E6"/>
                </a:solidFill>
                <a:latin typeface="Fira Sans" pitchFamily="34" charset="0"/>
                <a:ea typeface="Fira Sans" pitchFamily="34" charset="-122"/>
                <a:cs typeface="Fira Sans" pitchFamily="34" charset="-120"/>
              </a:rPr>
              <a:t>The 555 timer IC is a highly stable device used to generate precise time delays and oscillations. In astable multivibrator mode, it continuously switches between high and low states, producing a square wave clock signal used to drive other sequential circuits.</a:t>
            </a:r>
            <a:endParaRPr lang="en-US" sz="1000" dirty="0"/>
          </a:p>
        </p:txBody>
      </p:sp>
      <p:sp>
        <p:nvSpPr>
          <p:cNvPr id="7" name="Shape 4"/>
          <p:cNvSpPr/>
          <p:nvPr/>
        </p:nvSpPr>
        <p:spPr>
          <a:xfrm>
            <a:off x="5941100" y="2356128"/>
            <a:ext cx="8234601" cy="1214080"/>
          </a:xfrm>
          <a:prstGeom prst="roundRect">
            <a:avLst>
              <a:gd name="adj" fmla="val 1605"/>
            </a:avLst>
          </a:prstGeom>
          <a:solidFill>
            <a:srgbClr val="433550"/>
          </a:solidFill>
          <a:ln/>
        </p:spPr>
      </p:sp>
      <p:sp>
        <p:nvSpPr>
          <p:cNvPr id="8" name="Text 5"/>
          <p:cNvSpPr/>
          <p:nvPr/>
        </p:nvSpPr>
        <p:spPr>
          <a:xfrm>
            <a:off x="6070997" y="2486025"/>
            <a:ext cx="7974806" cy="207764"/>
          </a:xfrm>
          <a:prstGeom prst="rect">
            <a:avLst/>
          </a:prstGeom>
          <a:noFill/>
          <a:ln/>
        </p:spPr>
        <p:txBody>
          <a:bodyPr wrap="none" lIns="0" tIns="0" rIns="0" bIns="0" rtlCol="0" anchor="t"/>
          <a:lstStyle/>
          <a:p>
            <a:pPr marL="0" indent="0" algn="l">
              <a:lnSpc>
                <a:spcPts val="1600"/>
              </a:lnSpc>
              <a:buNone/>
            </a:pPr>
            <a:r>
              <a:rPr lang="en-US" sz="1000" dirty="0">
                <a:solidFill>
                  <a:srgbClr val="DAD1E6"/>
                </a:solidFill>
                <a:latin typeface="Fira Sans" pitchFamily="34" charset="0"/>
                <a:ea typeface="Fira Sans" pitchFamily="34" charset="-122"/>
                <a:cs typeface="Fira Sans" pitchFamily="34" charset="-120"/>
              </a:rPr>
              <a:t>Frequency Formula-</a:t>
            </a:r>
            <a:endParaRPr lang="en-US" sz="1000" dirty="0"/>
          </a:p>
        </p:txBody>
      </p:sp>
      <p:sp>
        <p:nvSpPr>
          <p:cNvPr id="9" name="Text 6"/>
          <p:cNvSpPr/>
          <p:nvPr/>
        </p:nvSpPr>
        <p:spPr>
          <a:xfrm>
            <a:off x="6070997" y="2771656"/>
            <a:ext cx="7974806" cy="207764"/>
          </a:xfrm>
          <a:prstGeom prst="rect">
            <a:avLst/>
          </a:prstGeom>
          <a:noFill/>
          <a:ln/>
        </p:spPr>
        <p:txBody>
          <a:bodyPr wrap="none" lIns="0" tIns="0" rIns="0" bIns="0" rtlCol="0" anchor="t"/>
          <a:lstStyle/>
          <a:p>
            <a:pPr marL="342900" indent="-342900" algn="l">
              <a:lnSpc>
                <a:spcPts val="1600"/>
              </a:lnSpc>
              <a:buSzPct val="100000"/>
              <a:buFont typeface="+mj-lt"/>
              <a:buAutoNum type="arabicPeriod"/>
            </a:pPr>
            <a:r>
              <a:rPr lang="en-US" sz="1000" dirty="0">
                <a:solidFill>
                  <a:srgbClr val="DAD1E6"/>
                </a:solidFill>
                <a:latin typeface="Fira Sans" pitchFamily="34" charset="0"/>
                <a:ea typeface="Fira Sans" pitchFamily="34" charset="-122"/>
                <a:cs typeface="Fira Sans" pitchFamily="34" charset="-120"/>
              </a:rPr>
              <a:t>The output frequency of the 555 timer in astable mode is determined by the values of two resistors (R1 and R2) and a capacitor (C). </a:t>
            </a:r>
            <a:endParaRPr lang="en-US" sz="1000" dirty="0"/>
          </a:p>
        </p:txBody>
      </p:sp>
      <p:sp>
        <p:nvSpPr>
          <p:cNvPr id="10" name="Text 7"/>
          <p:cNvSpPr/>
          <p:nvPr/>
        </p:nvSpPr>
        <p:spPr>
          <a:xfrm>
            <a:off x="6070997" y="3024783"/>
            <a:ext cx="7974806" cy="415528"/>
          </a:xfrm>
          <a:prstGeom prst="rect">
            <a:avLst/>
          </a:prstGeom>
          <a:noFill/>
          <a:ln/>
        </p:spPr>
        <p:txBody>
          <a:bodyPr wrap="square" lIns="0" tIns="0" rIns="0" bIns="0" rtlCol="0" anchor="t"/>
          <a:lstStyle/>
          <a:p>
            <a:pPr marL="342900" indent="-342900" algn="l">
              <a:lnSpc>
                <a:spcPts val="1600"/>
              </a:lnSpc>
              <a:buSzPct val="100000"/>
              <a:buFont typeface="+mj-lt"/>
              <a:buAutoNum type="arabicPeriod" startAt="2"/>
            </a:pPr>
            <a:r>
              <a:rPr lang="en-US" sz="1000" dirty="0">
                <a:solidFill>
                  <a:srgbClr val="DAD1E6"/>
                </a:solidFill>
                <a:latin typeface="Fira Sans" pitchFamily="34" charset="0"/>
                <a:ea typeface="Fira Sans" pitchFamily="34" charset="-122"/>
                <a:cs typeface="Fira Sans" pitchFamily="34" charset="-120"/>
              </a:rPr>
              <a:t>The formula, f = 1.44 / ((R1 + 2R2) * C), allows designers to calculate the oscillation frequency to tailor the clock speed as needed for the application.</a:t>
            </a:r>
            <a:endParaRPr lang="en-US" sz="1000" dirty="0"/>
          </a:p>
        </p:txBody>
      </p:sp>
      <p:sp>
        <p:nvSpPr>
          <p:cNvPr id="11" name="Shape 8"/>
          <p:cNvSpPr/>
          <p:nvPr/>
        </p:nvSpPr>
        <p:spPr>
          <a:xfrm>
            <a:off x="5941100" y="3700105"/>
            <a:ext cx="8234601" cy="2566273"/>
          </a:xfrm>
          <a:prstGeom prst="roundRect">
            <a:avLst>
              <a:gd name="adj" fmla="val 759"/>
            </a:avLst>
          </a:prstGeom>
          <a:solidFill>
            <a:srgbClr val="FFA44F"/>
          </a:solidFill>
          <a:ln/>
        </p:spPr>
      </p:sp>
      <p:sp>
        <p:nvSpPr>
          <p:cNvPr id="12" name="Text 9"/>
          <p:cNvSpPr/>
          <p:nvPr/>
        </p:nvSpPr>
        <p:spPr>
          <a:xfrm>
            <a:off x="6070997" y="3830003"/>
            <a:ext cx="1947505" cy="203002"/>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consolata Bold" pitchFamily="34" charset="0"/>
                <a:ea typeface="Inconsolata Bold" pitchFamily="34" charset="-122"/>
                <a:cs typeface="Inconsolata Bold" pitchFamily="34" charset="-120"/>
              </a:rPr>
              <a:t>Shift Register - 74HC595</a:t>
            </a:r>
            <a:endParaRPr lang="en-US" sz="1250" dirty="0"/>
          </a:p>
        </p:txBody>
      </p:sp>
      <p:sp>
        <p:nvSpPr>
          <p:cNvPr id="13" name="Text 10"/>
          <p:cNvSpPr/>
          <p:nvPr/>
        </p:nvSpPr>
        <p:spPr>
          <a:xfrm>
            <a:off x="6070997" y="4110871"/>
            <a:ext cx="7974806" cy="623292"/>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Fira Sans" pitchFamily="34" charset="0"/>
                <a:ea typeface="Fira Sans" pitchFamily="34" charset="-122"/>
                <a:cs typeface="Fira Sans" pitchFamily="34" charset="-120"/>
              </a:rPr>
              <a:t>The 74HC595 shift register is a versatile component that enables efficient control of multiple output devices, such as LEDs, from a limited number of microcontroller pins. This integrated circuit converts serial input data into parallel output, allowing for the simultaneous control of multiple output devices.</a:t>
            </a:r>
            <a:endParaRPr lang="en-US" sz="1000" dirty="0"/>
          </a:p>
        </p:txBody>
      </p:sp>
      <p:sp>
        <p:nvSpPr>
          <p:cNvPr id="14" name="Text 11"/>
          <p:cNvSpPr/>
          <p:nvPr/>
        </p:nvSpPr>
        <p:spPr>
          <a:xfrm>
            <a:off x="6070997" y="4812030"/>
            <a:ext cx="7974806" cy="623292"/>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Fira Sans" pitchFamily="34" charset="0"/>
                <a:ea typeface="Fira Sans" pitchFamily="34" charset="-122"/>
                <a:cs typeface="Fira Sans" pitchFamily="34" charset="-120"/>
              </a:rPr>
              <a:t>The shift register operates by shifting bits in sync with clock and latch signals, enabling the creation of complex and dynamic LED patterns. This functionality is particularly useful in applications where pattern complexity is essential, such as LED matrix displays or LED-based lighting effects.</a:t>
            </a:r>
            <a:endParaRPr lang="en-US" sz="1000" dirty="0"/>
          </a:p>
        </p:txBody>
      </p:sp>
      <p:sp>
        <p:nvSpPr>
          <p:cNvPr id="15" name="Text 12"/>
          <p:cNvSpPr/>
          <p:nvPr/>
        </p:nvSpPr>
        <p:spPr>
          <a:xfrm>
            <a:off x="6070997" y="5513189"/>
            <a:ext cx="7974806" cy="623292"/>
          </a:xfrm>
          <a:prstGeom prst="rect">
            <a:avLst/>
          </a:prstGeom>
          <a:noFill/>
          <a:ln/>
        </p:spPr>
        <p:txBody>
          <a:bodyPr wrap="square" lIns="0" tIns="0" rIns="0" bIns="0" rtlCol="0" anchor="t"/>
          <a:lstStyle/>
          <a:p>
            <a:pPr marL="0" indent="0" algn="l">
              <a:lnSpc>
                <a:spcPts val="1600"/>
              </a:lnSpc>
              <a:buNone/>
            </a:pPr>
            <a:r>
              <a:rPr lang="en-US" sz="1000" dirty="0">
                <a:solidFill>
                  <a:srgbClr val="000000"/>
                </a:solidFill>
                <a:latin typeface="Fira Sans" pitchFamily="34" charset="0"/>
                <a:ea typeface="Fira Sans" pitchFamily="34" charset="-122"/>
                <a:cs typeface="Fira Sans" pitchFamily="34" charset="-120"/>
              </a:rPr>
              <a:t>By utilizing the 74HC595 shift register, designers can enhance the capabilities of their projects, reducing the number of required microcontroller pins and simplifying the overall circuit design. This component plays a crucial role in the development of innovative electronic projects that involve dynamic LED-based displays or lighting effects.</a:t>
            </a:r>
            <a:endParaRPr lang="en-US" sz="1000" dirty="0"/>
          </a:p>
        </p:txBody>
      </p:sp>
      <p:sp>
        <p:nvSpPr>
          <p:cNvPr id="16" name="Shape 13"/>
          <p:cNvSpPr/>
          <p:nvPr/>
        </p:nvSpPr>
        <p:spPr>
          <a:xfrm>
            <a:off x="5941100" y="6396276"/>
            <a:ext cx="8234601" cy="1163955"/>
          </a:xfrm>
          <a:prstGeom prst="roundRect">
            <a:avLst>
              <a:gd name="adj" fmla="val 1674"/>
            </a:avLst>
          </a:prstGeom>
          <a:solidFill>
            <a:srgbClr val="433550"/>
          </a:solidFill>
          <a:ln/>
        </p:spPr>
      </p:sp>
      <p:sp>
        <p:nvSpPr>
          <p:cNvPr id="17" name="Text 14"/>
          <p:cNvSpPr/>
          <p:nvPr/>
        </p:nvSpPr>
        <p:spPr>
          <a:xfrm>
            <a:off x="6070997" y="6526173"/>
            <a:ext cx="1704023" cy="203002"/>
          </a:xfrm>
          <a:prstGeom prst="rect">
            <a:avLst/>
          </a:prstGeom>
          <a:noFill/>
          <a:ln/>
        </p:spPr>
        <p:txBody>
          <a:bodyPr wrap="none" lIns="0" tIns="0" rIns="0" bIns="0" rtlCol="0" anchor="t"/>
          <a:lstStyle/>
          <a:p>
            <a:pPr marL="0" indent="0" algn="l">
              <a:lnSpc>
                <a:spcPts val="1550"/>
              </a:lnSpc>
              <a:buNone/>
            </a:pPr>
            <a:r>
              <a:rPr lang="en-US" sz="1250" b="1" dirty="0">
                <a:solidFill>
                  <a:srgbClr val="DAD1E6"/>
                </a:solidFill>
                <a:latin typeface="Inconsolata Bold" pitchFamily="34" charset="0"/>
                <a:ea typeface="Inconsolata Bold" pitchFamily="34" charset="-122"/>
                <a:cs typeface="Inconsolata Bold" pitchFamily="34" charset="-120"/>
              </a:rPr>
              <a:t>Counter IC - 74HC4017</a:t>
            </a:r>
            <a:endParaRPr lang="en-US" sz="1250" dirty="0"/>
          </a:p>
        </p:txBody>
      </p:sp>
      <p:sp>
        <p:nvSpPr>
          <p:cNvPr id="18" name="Text 15"/>
          <p:cNvSpPr/>
          <p:nvPr/>
        </p:nvSpPr>
        <p:spPr>
          <a:xfrm>
            <a:off x="6070997" y="6807041"/>
            <a:ext cx="7974806" cy="623292"/>
          </a:xfrm>
          <a:prstGeom prst="rect">
            <a:avLst/>
          </a:prstGeom>
          <a:noFill/>
          <a:ln/>
        </p:spPr>
        <p:txBody>
          <a:bodyPr wrap="square" lIns="0" tIns="0" rIns="0" bIns="0" rtlCol="0" anchor="t"/>
          <a:lstStyle/>
          <a:p>
            <a:pPr marL="0" indent="0" algn="l">
              <a:lnSpc>
                <a:spcPts val="1600"/>
              </a:lnSpc>
              <a:buNone/>
            </a:pPr>
            <a:r>
              <a:rPr lang="en-US" sz="1000" dirty="0">
                <a:solidFill>
                  <a:srgbClr val="DAD1E6"/>
                </a:solidFill>
                <a:latin typeface="Fira Sans" pitchFamily="34" charset="0"/>
                <a:ea typeface="Fira Sans" pitchFamily="34" charset="-122"/>
                <a:cs typeface="Fira Sans" pitchFamily="34" charset="-120"/>
              </a:rPr>
              <a:t>The 74HC4017 is a decade counter IC that counts from 0 to 9. It generates sequential outputs, activating one output pin at a time in response to the incoming clock signal from the 555 timer. This IC simplifies the process of generating timing sequences and dividing frequencies.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619375"/>
            <a:ext cx="8788122"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Circuit Design: Clock &amp; Counter</a:t>
            </a:r>
            <a:endParaRPr lang="en-US" sz="4450" dirty="0"/>
          </a:p>
        </p:txBody>
      </p:sp>
      <p:sp>
        <p:nvSpPr>
          <p:cNvPr id="3" name="Text 1"/>
          <p:cNvSpPr/>
          <p:nvPr/>
        </p:nvSpPr>
        <p:spPr>
          <a:xfrm>
            <a:off x="793790" y="3895130"/>
            <a:ext cx="3542228"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555 Timer Astable Circuit</a:t>
            </a:r>
            <a:endParaRPr lang="en-US" sz="2200" dirty="0"/>
          </a:p>
        </p:txBody>
      </p:sp>
      <p:sp>
        <p:nvSpPr>
          <p:cNvPr id="4" name="Text 2"/>
          <p:cNvSpPr/>
          <p:nvPr/>
        </p:nvSpPr>
        <p:spPr>
          <a:xfrm>
            <a:off x="793790" y="447627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Schematic with resistor and capacitor values (R1, R2, C).</a:t>
            </a:r>
            <a:endParaRPr lang="en-US" sz="1750" dirty="0"/>
          </a:p>
        </p:txBody>
      </p:sp>
      <p:sp>
        <p:nvSpPr>
          <p:cNvPr id="5" name="Text 3"/>
          <p:cNvSpPr/>
          <p:nvPr/>
        </p:nvSpPr>
        <p:spPr>
          <a:xfrm>
            <a:off x="793790" y="504324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Frequency example: 1Hz for clear visual effect.</a:t>
            </a:r>
            <a:endParaRPr lang="en-US" sz="1750" dirty="0"/>
          </a:p>
        </p:txBody>
      </p:sp>
      <p:sp>
        <p:nvSpPr>
          <p:cNvPr id="6" name="Text 4"/>
          <p:cNvSpPr/>
          <p:nvPr/>
        </p:nvSpPr>
        <p:spPr>
          <a:xfrm>
            <a:off x="7599521" y="38951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74HC4017 Counter</a:t>
            </a:r>
            <a:endParaRPr lang="en-US" sz="2200" dirty="0"/>
          </a:p>
        </p:txBody>
      </p:sp>
      <p:sp>
        <p:nvSpPr>
          <p:cNvPr id="7" name="Text 5"/>
          <p:cNvSpPr/>
          <p:nvPr/>
        </p:nvSpPr>
        <p:spPr>
          <a:xfrm>
            <a:off x="7599521" y="4476274"/>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Wiring diagram showing clock input and LED outputs.</a:t>
            </a:r>
            <a:endParaRPr lang="en-US" sz="1750" dirty="0"/>
          </a:p>
        </p:txBody>
      </p:sp>
      <p:sp>
        <p:nvSpPr>
          <p:cNvPr id="8" name="Text 6"/>
          <p:cNvSpPr/>
          <p:nvPr/>
        </p:nvSpPr>
        <p:spPr>
          <a:xfrm>
            <a:off x="7599521" y="504324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LEDs arranged linearly or in circular patterns.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93420" y="1004649"/>
            <a:ext cx="7429619" cy="619125"/>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Circuit Design: Shift Register</a:t>
            </a:r>
            <a:endParaRPr lang="en-US" sz="3900" dirty="0"/>
          </a:p>
        </p:txBody>
      </p:sp>
      <p:sp>
        <p:nvSpPr>
          <p:cNvPr id="4" name="Shape 1"/>
          <p:cNvSpPr/>
          <p:nvPr/>
        </p:nvSpPr>
        <p:spPr>
          <a:xfrm>
            <a:off x="693420" y="2143839"/>
            <a:ext cx="445770" cy="445770"/>
          </a:xfrm>
          <a:prstGeom prst="roundRect">
            <a:avLst>
              <a:gd name="adj" fmla="val 6667"/>
            </a:avLst>
          </a:prstGeom>
          <a:solidFill>
            <a:srgbClr val="433550"/>
          </a:solidFill>
          <a:ln/>
        </p:spPr>
      </p:sp>
      <p:sp>
        <p:nvSpPr>
          <p:cNvPr id="5" name="Text 2"/>
          <p:cNvSpPr/>
          <p:nvPr/>
        </p:nvSpPr>
        <p:spPr>
          <a:xfrm>
            <a:off x="1337310" y="2143839"/>
            <a:ext cx="2476500" cy="309563"/>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Serial Data Input</a:t>
            </a:r>
            <a:endParaRPr lang="en-US" sz="1950" dirty="0"/>
          </a:p>
        </p:txBody>
      </p:sp>
      <p:sp>
        <p:nvSpPr>
          <p:cNvPr id="6" name="Text 3"/>
          <p:cNvSpPr/>
          <p:nvPr/>
        </p:nvSpPr>
        <p:spPr>
          <a:xfrm>
            <a:off x="1337310" y="2572226"/>
            <a:ext cx="3135630" cy="2218611"/>
          </a:xfrm>
          <a:prstGeom prst="rect">
            <a:avLst/>
          </a:prstGeom>
          <a:noFill/>
          <a:ln/>
        </p:spPr>
        <p:txBody>
          <a:bodyPr wrap="square" lIns="0" tIns="0" rIns="0" bIns="0" rtlCol="0" anchor="t"/>
          <a:lstStyle/>
          <a:p>
            <a:pPr marL="0" indent="0" algn="l">
              <a:lnSpc>
                <a:spcPts val="2450"/>
              </a:lnSpc>
              <a:buNone/>
            </a:pPr>
            <a:r>
              <a:rPr lang="en-US" sz="1550" dirty="0">
                <a:solidFill>
                  <a:srgbClr val="DAD1E6"/>
                </a:solidFill>
                <a:latin typeface="Fira Sans" pitchFamily="34" charset="0"/>
                <a:ea typeface="Fira Sans" pitchFamily="34" charset="-122"/>
                <a:cs typeface="Fira Sans" pitchFamily="34" charset="-120"/>
              </a:rPr>
              <a:t>Data is fed serially into the shift register to create LED patterns. This serial data input allows each bit to be shifted sequentially through the register, controlling the output pins with precise timing.</a:t>
            </a:r>
            <a:endParaRPr lang="en-US" sz="1550" dirty="0"/>
          </a:p>
        </p:txBody>
      </p:sp>
      <p:sp>
        <p:nvSpPr>
          <p:cNvPr id="7" name="Shape 4"/>
          <p:cNvSpPr/>
          <p:nvPr/>
        </p:nvSpPr>
        <p:spPr>
          <a:xfrm>
            <a:off x="4671060" y="2143839"/>
            <a:ext cx="445770" cy="445770"/>
          </a:xfrm>
          <a:prstGeom prst="roundRect">
            <a:avLst>
              <a:gd name="adj" fmla="val 6667"/>
            </a:avLst>
          </a:prstGeom>
          <a:solidFill>
            <a:srgbClr val="433550"/>
          </a:solidFill>
          <a:ln/>
        </p:spPr>
      </p:sp>
      <p:sp>
        <p:nvSpPr>
          <p:cNvPr id="8" name="Text 5"/>
          <p:cNvSpPr/>
          <p:nvPr/>
        </p:nvSpPr>
        <p:spPr>
          <a:xfrm>
            <a:off x="5314950" y="2143839"/>
            <a:ext cx="3095744" cy="309563"/>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Cascading Shift Registers</a:t>
            </a:r>
            <a:endParaRPr lang="en-US" sz="1950" dirty="0"/>
          </a:p>
        </p:txBody>
      </p:sp>
      <p:sp>
        <p:nvSpPr>
          <p:cNvPr id="9" name="Text 6"/>
          <p:cNvSpPr/>
          <p:nvPr/>
        </p:nvSpPr>
        <p:spPr>
          <a:xfrm>
            <a:off x="5314950" y="2572226"/>
            <a:ext cx="3135630" cy="2535555"/>
          </a:xfrm>
          <a:prstGeom prst="rect">
            <a:avLst/>
          </a:prstGeom>
          <a:noFill/>
          <a:ln/>
        </p:spPr>
        <p:txBody>
          <a:bodyPr wrap="square" lIns="0" tIns="0" rIns="0" bIns="0" rtlCol="0" anchor="t"/>
          <a:lstStyle/>
          <a:p>
            <a:pPr marL="0" indent="0" algn="l">
              <a:lnSpc>
                <a:spcPts val="2450"/>
              </a:lnSpc>
              <a:buNone/>
            </a:pPr>
            <a:r>
              <a:rPr lang="en-US" sz="1550" dirty="0">
                <a:solidFill>
                  <a:srgbClr val="DAD1E6"/>
                </a:solidFill>
                <a:latin typeface="Fira Sans" pitchFamily="34" charset="0"/>
                <a:ea typeface="Fira Sans" pitchFamily="34" charset="-122"/>
                <a:cs typeface="Fira Sans" pitchFamily="34" charset="-120"/>
              </a:rPr>
              <a:t>Multiple 74HC595 devices can be connected in cascade to extend the number of outputs. This allows designers to control long LED sequences or large displays using only a few microcontroller pins, simplifying wiring and increasing scalability.</a:t>
            </a:r>
            <a:endParaRPr lang="en-US" sz="1550" dirty="0"/>
          </a:p>
        </p:txBody>
      </p:sp>
      <p:sp>
        <p:nvSpPr>
          <p:cNvPr id="10" name="Shape 7"/>
          <p:cNvSpPr/>
          <p:nvPr/>
        </p:nvSpPr>
        <p:spPr>
          <a:xfrm>
            <a:off x="693420" y="5528786"/>
            <a:ext cx="445770" cy="445770"/>
          </a:xfrm>
          <a:prstGeom prst="roundRect">
            <a:avLst>
              <a:gd name="adj" fmla="val 6667"/>
            </a:avLst>
          </a:prstGeom>
          <a:solidFill>
            <a:srgbClr val="433550"/>
          </a:solidFill>
          <a:ln/>
        </p:spPr>
      </p:sp>
      <p:sp>
        <p:nvSpPr>
          <p:cNvPr id="11" name="Text 8"/>
          <p:cNvSpPr/>
          <p:nvPr/>
        </p:nvSpPr>
        <p:spPr>
          <a:xfrm>
            <a:off x="1337310" y="5528786"/>
            <a:ext cx="2476500" cy="309563"/>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Pattern Example</a:t>
            </a:r>
            <a:endParaRPr lang="en-US" sz="1950" dirty="0"/>
          </a:p>
        </p:txBody>
      </p:sp>
      <p:sp>
        <p:nvSpPr>
          <p:cNvPr id="12" name="Text 9"/>
          <p:cNvSpPr/>
          <p:nvPr/>
        </p:nvSpPr>
        <p:spPr>
          <a:xfrm>
            <a:off x="1337310" y="5957173"/>
            <a:ext cx="7113270" cy="1267778"/>
          </a:xfrm>
          <a:prstGeom prst="rect">
            <a:avLst/>
          </a:prstGeom>
          <a:noFill/>
          <a:ln/>
        </p:spPr>
        <p:txBody>
          <a:bodyPr wrap="square" lIns="0" tIns="0" rIns="0" bIns="0" rtlCol="0" anchor="t"/>
          <a:lstStyle/>
          <a:p>
            <a:pPr marL="0" indent="0" algn="l">
              <a:lnSpc>
                <a:spcPts val="2450"/>
              </a:lnSpc>
              <a:buNone/>
            </a:pPr>
            <a:r>
              <a:rPr lang="en-US" sz="1550" dirty="0">
                <a:solidFill>
                  <a:srgbClr val="DAD1E6"/>
                </a:solidFill>
                <a:latin typeface="Fira Sans" pitchFamily="34" charset="0"/>
                <a:ea typeface="Fira Sans" pitchFamily="34" charset="-122"/>
                <a:cs typeface="Fira Sans" pitchFamily="34" charset="-120"/>
              </a:rPr>
              <a:t>A simple on/off sequence propagation demonstrates how bits move through the shift register outputs. This mechanism enables dynamic and complex lighting effects by controlling the timing and pattern of the LEDs turning on and off.</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5389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Circuit Diagram</a:t>
            </a:r>
            <a:endParaRPr lang="en-US" sz="4450" dirty="0"/>
          </a:p>
        </p:txBody>
      </p:sp>
      <p:sp>
        <p:nvSpPr>
          <p:cNvPr id="4" name="Text 1"/>
          <p:cNvSpPr/>
          <p:nvPr/>
        </p:nvSpPr>
        <p:spPr>
          <a:xfrm>
            <a:off x="793790" y="170283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This diagram integrates the 555 timer and shift registers with LED connections.</a:t>
            </a:r>
            <a:endParaRPr lang="en-US" sz="1750" dirty="0"/>
          </a:p>
        </p:txBody>
      </p:sp>
      <p:pic>
        <p:nvPicPr>
          <p:cNvPr id="5" name="Image 1" descr="preencoded.png"/>
          <p:cNvPicPr>
            <a:picLocks noChangeAspect="1"/>
          </p:cNvPicPr>
          <p:nvPr/>
        </p:nvPicPr>
        <p:blipFill>
          <a:blip r:embed="rId4"/>
          <a:stretch>
            <a:fillRect/>
          </a:stretch>
        </p:blipFill>
        <p:spPr>
          <a:xfrm>
            <a:off x="793790" y="2683788"/>
            <a:ext cx="7018973" cy="4273748"/>
          </a:xfrm>
          <a:prstGeom prst="rect">
            <a:avLst/>
          </a:prstGeom>
        </p:spPr>
      </p:pic>
      <p:sp>
        <p:nvSpPr>
          <p:cNvPr id="6" name="Text 2"/>
          <p:cNvSpPr/>
          <p:nvPr/>
        </p:nvSpPr>
        <p:spPr>
          <a:xfrm>
            <a:off x="793790" y="7212687"/>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8758" y="423505"/>
            <a:ext cx="3848933" cy="481132"/>
          </a:xfrm>
          <a:prstGeom prst="rect">
            <a:avLst/>
          </a:prstGeom>
          <a:noFill/>
          <a:ln/>
        </p:spPr>
        <p:txBody>
          <a:bodyPr wrap="none" lIns="0" tIns="0" rIns="0" bIns="0" rtlCol="0" anchor="t"/>
          <a:lstStyle/>
          <a:p>
            <a:pPr marL="0" indent="0" algn="l">
              <a:lnSpc>
                <a:spcPts val="3750"/>
              </a:lnSpc>
              <a:buNone/>
            </a:pPr>
            <a:r>
              <a:rPr lang="en-US" sz="3000" b="1" dirty="0">
                <a:solidFill>
                  <a:srgbClr val="F94CAF"/>
                </a:solidFill>
                <a:latin typeface="Inconsolata Bold" pitchFamily="34" charset="0"/>
                <a:ea typeface="Inconsolata Bold" pitchFamily="34" charset="-122"/>
                <a:cs typeface="Inconsolata Bold" pitchFamily="34" charset="-120"/>
              </a:rPr>
              <a:t>Components Details-</a:t>
            </a:r>
            <a:endParaRPr lang="en-US" sz="3000" dirty="0"/>
          </a:p>
        </p:txBody>
      </p:sp>
      <p:sp>
        <p:nvSpPr>
          <p:cNvPr id="3" name="Text 1"/>
          <p:cNvSpPr/>
          <p:nvPr/>
        </p:nvSpPr>
        <p:spPr>
          <a:xfrm>
            <a:off x="538758" y="1212532"/>
            <a:ext cx="13552884" cy="61555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Power Source (B1):</a:t>
            </a:r>
            <a:r>
              <a:rPr lang="en-US" sz="1200" dirty="0">
                <a:solidFill>
                  <a:srgbClr val="DAD1E6"/>
                </a:solidFill>
                <a:latin typeface="Fira Sans" pitchFamily="34" charset="0"/>
                <a:ea typeface="Fira Sans" pitchFamily="34" charset="-122"/>
                <a:cs typeface="Fira Sans" pitchFamily="34" charset="-120"/>
              </a:rPr>
              <a:t>
12V DC supply powers the entire circuit.</a:t>
            </a:r>
            <a:endParaRPr lang="en-US" sz="1200" dirty="0"/>
          </a:p>
        </p:txBody>
      </p:sp>
      <p:sp>
        <p:nvSpPr>
          <p:cNvPr id="4" name="Text 2"/>
          <p:cNvSpPr/>
          <p:nvPr/>
        </p:nvSpPr>
        <p:spPr>
          <a:xfrm>
            <a:off x="538758" y="1881902"/>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555 Timer IC (U1):</a:t>
            </a:r>
            <a:r>
              <a:rPr lang="en-US" sz="1200" dirty="0">
                <a:solidFill>
                  <a:srgbClr val="DAD1E6"/>
                </a:solidFill>
                <a:latin typeface="Fira Sans" pitchFamily="34" charset="0"/>
                <a:ea typeface="Fira Sans" pitchFamily="34" charset="-122"/>
                <a:cs typeface="Fira Sans" pitchFamily="34" charset="-120"/>
              </a:rPr>
              <a:t>
Configured in </a:t>
            </a:r>
            <a:r>
              <a:rPr lang="en-US" sz="1200" b="1" dirty="0">
                <a:solidFill>
                  <a:srgbClr val="DAD1E6"/>
                </a:solidFill>
                <a:latin typeface="Fira Sans" pitchFamily="34" charset="0"/>
                <a:ea typeface="Fira Sans" pitchFamily="34" charset="-122"/>
                <a:cs typeface="Fira Sans" pitchFamily="34" charset="-120"/>
              </a:rPr>
              <a:t>astable mode</a:t>
            </a:r>
            <a:r>
              <a:rPr lang="en-US" sz="1200" dirty="0">
                <a:solidFill>
                  <a:srgbClr val="DAD1E6"/>
                </a:solidFill>
                <a:latin typeface="Fira Sans" pitchFamily="34" charset="0"/>
                <a:ea typeface="Fira Sans" pitchFamily="34" charset="-122"/>
                <a:cs typeface="Fira Sans" pitchFamily="34" charset="-120"/>
              </a:rPr>
              <a:t> to generate continuous </a:t>
            </a:r>
            <a:r>
              <a:rPr lang="en-US" sz="1200" b="1" dirty="0">
                <a:solidFill>
                  <a:srgbClr val="DAD1E6"/>
                </a:solidFill>
                <a:latin typeface="Fira Sans" pitchFamily="34" charset="0"/>
                <a:ea typeface="Fira Sans" pitchFamily="34" charset="-122"/>
                <a:cs typeface="Fira Sans" pitchFamily="34" charset="-120"/>
              </a:rPr>
              <a:t>clock pulses</a:t>
            </a:r>
            <a:r>
              <a:rPr lang="en-US" sz="1200" dirty="0">
                <a:solidFill>
                  <a:srgbClr val="DAD1E6"/>
                </a:solidFill>
                <a:latin typeface="Fira Sans" pitchFamily="34" charset="0"/>
                <a:ea typeface="Fira Sans" pitchFamily="34" charset="-122"/>
                <a:cs typeface="Fira Sans" pitchFamily="34" charset="-120"/>
              </a:rPr>
              <a:t>.</a:t>
            </a:r>
            <a:endParaRPr lang="en-US" sz="1200" dirty="0"/>
          </a:p>
        </p:txBody>
      </p:sp>
      <p:sp>
        <p:nvSpPr>
          <p:cNvPr id="5" name="Text 3"/>
          <p:cNvSpPr/>
          <p:nvPr/>
        </p:nvSpPr>
        <p:spPr>
          <a:xfrm>
            <a:off x="538758" y="2428161"/>
            <a:ext cx="13552884" cy="246221"/>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Timing Components:</a:t>
            </a:r>
            <a:endParaRPr lang="en-US" sz="1200" dirty="0"/>
          </a:p>
        </p:txBody>
      </p:sp>
      <p:sp>
        <p:nvSpPr>
          <p:cNvPr id="6" name="Text 4"/>
          <p:cNvSpPr/>
          <p:nvPr/>
        </p:nvSpPr>
        <p:spPr>
          <a:xfrm>
            <a:off x="538758" y="2728198"/>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R12, R13, and C3</a:t>
            </a:r>
            <a:r>
              <a:rPr lang="en-US" sz="1200" dirty="0">
                <a:solidFill>
                  <a:srgbClr val="DAD1E6"/>
                </a:solidFill>
                <a:latin typeface="Fira Sans" pitchFamily="34" charset="0"/>
                <a:ea typeface="Fira Sans" pitchFamily="34" charset="-122"/>
                <a:cs typeface="Fira Sans" pitchFamily="34" charset="-120"/>
              </a:rPr>
              <a:t> set the pulse frequency for the 555 Timer.</a:t>
            </a:r>
            <a:endParaRPr lang="en-US" sz="1200" dirty="0"/>
          </a:p>
        </p:txBody>
      </p:sp>
      <p:sp>
        <p:nvSpPr>
          <p:cNvPr id="7" name="Text 5"/>
          <p:cNvSpPr/>
          <p:nvPr/>
        </p:nvSpPr>
        <p:spPr>
          <a:xfrm>
            <a:off x="538758" y="3028236"/>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Shift Register (U2 - 74HC595):</a:t>
            </a:r>
            <a:r>
              <a:rPr lang="en-US" sz="1200" dirty="0">
                <a:solidFill>
                  <a:srgbClr val="DAD1E6"/>
                </a:solidFill>
                <a:latin typeface="Fira Sans" pitchFamily="34" charset="0"/>
                <a:ea typeface="Fira Sans" pitchFamily="34" charset="-122"/>
                <a:cs typeface="Fira Sans" pitchFamily="34" charset="-120"/>
              </a:rPr>
              <a:t>
Receives clock pulses and serial data to drive the LEDs in sequence.</a:t>
            </a:r>
            <a:endParaRPr lang="en-US" sz="1200" dirty="0"/>
          </a:p>
        </p:txBody>
      </p:sp>
      <p:sp>
        <p:nvSpPr>
          <p:cNvPr id="8" name="Text 6"/>
          <p:cNvSpPr/>
          <p:nvPr/>
        </p:nvSpPr>
        <p:spPr>
          <a:xfrm>
            <a:off x="538758" y="3574494"/>
            <a:ext cx="13552884" cy="246221"/>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Data and Clock Inputs:</a:t>
            </a:r>
            <a:endParaRPr lang="en-US" sz="1200" dirty="0"/>
          </a:p>
        </p:txBody>
      </p:sp>
      <p:sp>
        <p:nvSpPr>
          <p:cNvPr id="9" name="Text 7"/>
          <p:cNvSpPr/>
          <p:nvPr/>
        </p:nvSpPr>
        <p:spPr>
          <a:xfrm>
            <a:off x="538758" y="3874532"/>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dirty="0">
                <a:solidFill>
                  <a:srgbClr val="DAD1E6"/>
                </a:solidFill>
                <a:latin typeface="Fira Sans" pitchFamily="34" charset="0"/>
                <a:ea typeface="Fira Sans" pitchFamily="34" charset="-122"/>
                <a:cs typeface="Fira Sans" pitchFamily="34" charset="-120"/>
              </a:rPr>
              <a:t>Clock pulse from 555 timer fed into </a:t>
            </a:r>
            <a:r>
              <a:rPr lang="en-US" sz="1200" b="1" dirty="0">
                <a:solidFill>
                  <a:srgbClr val="DAD1E6"/>
                </a:solidFill>
                <a:latin typeface="Fira Sans" pitchFamily="34" charset="0"/>
                <a:ea typeface="Fira Sans" pitchFamily="34" charset="-122"/>
                <a:cs typeface="Fira Sans" pitchFamily="34" charset="-120"/>
              </a:rPr>
              <a:t>SRCLK</a:t>
            </a:r>
            <a:r>
              <a:rPr lang="en-US" sz="1200" dirty="0">
                <a:solidFill>
                  <a:srgbClr val="DAD1E6"/>
                </a:solidFill>
                <a:latin typeface="Fira Sans" pitchFamily="34" charset="0"/>
                <a:ea typeface="Fira Sans" pitchFamily="34" charset="-122"/>
                <a:cs typeface="Fira Sans" pitchFamily="34" charset="-120"/>
              </a:rPr>
              <a:t> (Shift Register Clock Pin) of 74HC595.</a:t>
            </a:r>
            <a:endParaRPr lang="en-US" sz="1200" dirty="0"/>
          </a:p>
        </p:txBody>
      </p:sp>
      <p:sp>
        <p:nvSpPr>
          <p:cNvPr id="10" name="Text 8"/>
          <p:cNvSpPr/>
          <p:nvPr/>
        </p:nvSpPr>
        <p:spPr>
          <a:xfrm>
            <a:off x="538758" y="4174569"/>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dirty="0">
                <a:solidFill>
                  <a:srgbClr val="DAD1E6"/>
                </a:solidFill>
                <a:latin typeface="Fira Sans" pitchFamily="34" charset="0"/>
                <a:ea typeface="Fira Sans" pitchFamily="34" charset="-122"/>
                <a:cs typeface="Fira Sans" pitchFamily="34" charset="-120"/>
              </a:rPr>
              <a:t>Data fed into </a:t>
            </a:r>
            <a:r>
              <a:rPr lang="en-US" sz="1200" b="1" dirty="0">
                <a:solidFill>
                  <a:srgbClr val="DAD1E6"/>
                </a:solidFill>
                <a:latin typeface="Fira Sans" pitchFamily="34" charset="0"/>
                <a:ea typeface="Fira Sans" pitchFamily="34" charset="-122"/>
                <a:cs typeface="Fira Sans" pitchFamily="34" charset="-120"/>
              </a:rPr>
              <a:t>SER</a:t>
            </a:r>
            <a:r>
              <a:rPr lang="en-US" sz="1200" dirty="0">
                <a:solidFill>
                  <a:srgbClr val="DAD1E6"/>
                </a:solidFill>
                <a:latin typeface="Fira Sans" pitchFamily="34" charset="0"/>
                <a:ea typeface="Fira Sans" pitchFamily="34" charset="-122"/>
                <a:cs typeface="Fira Sans" pitchFamily="34" charset="-120"/>
              </a:rPr>
              <a:t> (Serial Data Input Pin).</a:t>
            </a:r>
            <a:endParaRPr lang="en-US" sz="1200" dirty="0"/>
          </a:p>
        </p:txBody>
      </p:sp>
      <p:sp>
        <p:nvSpPr>
          <p:cNvPr id="11" name="Text 9"/>
          <p:cNvSpPr/>
          <p:nvPr/>
        </p:nvSpPr>
        <p:spPr>
          <a:xfrm>
            <a:off x="538758" y="4474607"/>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LEDs (D1–D8):</a:t>
            </a:r>
            <a:r>
              <a:rPr lang="en-US" sz="1200" dirty="0">
                <a:solidFill>
                  <a:srgbClr val="DAD1E6"/>
                </a:solidFill>
                <a:latin typeface="Fira Sans" pitchFamily="34" charset="0"/>
                <a:ea typeface="Fira Sans" pitchFamily="34" charset="-122"/>
                <a:cs typeface="Fira Sans" pitchFamily="34" charset="-120"/>
              </a:rPr>
              <a:t>
Eight LEDs connected to shift register outputs (Q0–Q7) through </a:t>
            </a:r>
            <a:r>
              <a:rPr lang="en-US" sz="1200" b="1" dirty="0">
                <a:solidFill>
                  <a:srgbClr val="DAD1E6"/>
                </a:solidFill>
                <a:latin typeface="Fira Sans" pitchFamily="34" charset="0"/>
                <a:ea typeface="Fira Sans" pitchFamily="34" charset="-122"/>
                <a:cs typeface="Fira Sans" pitchFamily="34" charset="-120"/>
              </a:rPr>
              <a:t>current-limiting resistors (R3–R10)</a:t>
            </a:r>
            <a:r>
              <a:rPr lang="en-US" sz="1200" dirty="0">
                <a:solidFill>
                  <a:srgbClr val="DAD1E6"/>
                </a:solidFill>
                <a:latin typeface="Fira Sans" pitchFamily="34" charset="0"/>
                <a:ea typeface="Fira Sans" pitchFamily="34" charset="-122"/>
                <a:cs typeface="Fira Sans" pitchFamily="34" charset="-120"/>
              </a:rPr>
              <a:t>.</a:t>
            </a:r>
            <a:endParaRPr lang="en-US" sz="1200" dirty="0"/>
          </a:p>
        </p:txBody>
      </p:sp>
      <p:sp>
        <p:nvSpPr>
          <p:cNvPr id="12" name="Text 10"/>
          <p:cNvSpPr/>
          <p:nvPr/>
        </p:nvSpPr>
        <p:spPr>
          <a:xfrm>
            <a:off x="538758" y="5020866"/>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Push Button:</a:t>
            </a:r>
            <a:r>
              <a:rPr lang="en-US" sz="1200" dirty="0">
                <a:solidFill>
                  <a:srgbClr val="DAD1E6"/>
                </a:solidFill>
                <a:latin typeface="Fira Sans" pitchFamily="34" charset="0"/>
                <a:ea typeface="Fira Sans" pitchFamily="34" charset="-122"/>
                <a:cs typeface="Fira Sans" pitchFamily="34" charset="-120"/>
              </a:rPr>
              <a:t>
Connected for </a:t>
            </a:r>
            <a:r>
              <a:rPr lang="en-US" sz="1200" b="1" dirty="0">
                <a:solidFill>
                  <a:srgbClr val="DAD1E6"/>
                </a:solidFill>
                <a:latin typeface="Fira Sans" pitchFamily="34" charset="0"/>
                <a:ea typeface="Fira Sans" pitchFamily="34" charset="-122"/>
                <a:cs typeface="Fira Sans" pitchFamily="34" charset="-120"/>
              </a:rPr>
              <a:t>manual reset</a:t>
            </a:r>
            <a:r>
              <a:rPr lang="en-US" sz="1200" dirty="0">
                <a:solidFill>
                  <a:srgbClr val="DAD1E6"/>
                </a:solidFill>
                <a:latin typeface="Fira Sans" pitchFamily="34" charset="0"/>
                <a:ea typeface="Fira Sans" pitchFamily="34" charset="-122"/>
                <a:cs typeface="Fira Sans" pitchFamily="34" charset="-120"/>
              </a:rPr>
              <a:t> or data load trigger.</a:t>
            </a:r>
            <a:endParaRPr lang="en-US" sz="1200" dirty="0"/>
          </a:p>
        </p:txBody>
      </p:sp>
      <p:sp>
        <p:nvSpPr>
          <p:cNvPr id="13" name="Text 11"/>
          <p:cNvSpPr/>
          <p:nvPr/>
        </p:nvSpPr>
        <p:spPr>
          <a:xfrm>
            <a:off x="538758" y="5567124"/>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Indicators (D9 and D10):</a:t>
            </a:r>
            <a:r>
              <a:rPr lang="en-US" sz="1200" dirty="0">
                <a:solidFill>
                  <a:srgbClr val="DAD1E6"/>
                </a:solidFill>
                <a:latin typeface="Fira Sans" pitchFamily="34" charset="0"/>
                <a:ea typeface="Fira Sans" pitchFamily="34" charset="-122"/>
                <a:cs typeface="Fira Sans" pitchFamily="34" charset="-120"/>
              </a:rPr>
              <a:t>
LEDs connected for additional visual indicators (possibly latch or status indicators).</a:t>
            </a:r>
            <a:endParaRPr lang="en-US" sz="1200" dirty="0"/>
          </a:p>
        </p:txBody>
      </p:sp>
      <p:sp>
        <p:nvSpPr>
          <p:cNvPr id="14" name="Text 12"/>
          <p:cNvSpPr/>
          <p:nvPr/>
        </p:nvSpPr>
        <p:spPr>
          <a:xfrm>
            <a:off x="538758" y="6113383"/>
            <a:ext cx="13552884" cy="492443"/>
          </a:xfrm>
          <a:prstGeom prst="rect">
            <a:avLst/>
          </a:prstGeom>
          <a:noFill/>
          <a:ln/>
        </p:spPr>
        <p:txBody>
          <a:bodyPr wrap="squar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Additional Capacitors (C4):</a:t>
            </a:r>
            <a:r>
              <a:rPr lang="en-US" sz="1200" dirty="0">
                <a:solidFill>
                  <a:srgbClr val="DAD1E6"/>
                </a:solidFill>
                <a:latin typeface="Fira Sans" pitchFamily="34" charset="0"/>
                <a:ea typeface="Fira Sans" pitchFamily="34" charset="-122"/>
                <a:cs typeface="Fira Sans" pitchFamily="34" charset="-120"/>
              </a:rPr>
              <a:t>
Used for </a:t>
            </a:r>
            <a:r>
              <a:rPr lang="en-US" sz="1200" b="1" dirty="0">
                <a:solidFill>
                  <a:srgbClr val="DAD1E6"/>
                </a:solidFill>
                <a:latin typeface="Fira Sans" pitchFamily="34" charset="0"/>
                <a:ea typeface="Fira Sans" pitchFamily="34" charset="-122"/>
                <a:cs typeface="Fira Sans" pitchFamily="34" charset="-120"/>
              </a:rPr>
              <a:t>power stabilization</a:t>
            </a:r>
            <a:r>
              <a:rPr lang="en-US" sz="1200" dirty="0">
                <a:solidFill>
                  <a:srgbClr val="DAD1E6"/>
                </a:solidFill>
                <a:latin typeface="Fira Sans" pitchFamily="34" charset="0"/>
                <a:ea typeface="Fira Sans" pitchFamily="34" charset="-122"/>
                <a:cs typeface="Fira Sans" pitchFamily="34" charset="-120"/>
              </a:rPr>
              <a:t> across the shift register.</a:t>
            </a:r>
            <a:endParaRPr lang="en-US" sz="1200" dirty="0"/>
          </a:p>
        </p:txBody>
      </p:sp>
      <p:sp>
        <p:nvSpPr>
          <p:cNvPr id="15" name="Text 13"/>
          <p:cNvSpPr/>
          <p:nvPr/>
        </p:nvSpPr>
        <p:spPr>
          <a:xfrm>
            <a:off x="538758" y="6659642"/>
            <a:ext cx="13552884" cy="246221"/>
          </a:xfrm>
          <a:prstGeom prst="rect">
            <a:avLst/>
          </a:prstGeom>
          <a:noFill/>
          <a:ln/>
        </p:spPr>
        <p:txBody>
          <a:bodyPr wrap="none" lIns="0" tIns="0" rIns="0" bIns="0" rtlCol="0" anchor="t"/>
          <a:lstStyle/>
          <a:p>
            <a:pPr marL="342900" indent="-342900" algn="l">
              <a:lnSpc>
                <a:spcPts val="1900"/>
              </a:lnSpc>
              <a:buSzPct val="100000"/>
              <a:buChar char="•"/>
            </a:pPr>
            <a:r>
              <a:rPr lang="en-US" sz="1200" b="1" dirty="0">
                <a:solidFill>
                  <a:srgbClr val="DAD1E6"/>
                </a:solidFill>
                <a:latin typeface="Fira Sans" pitchFamily="34" charset="0"/>
                <a:ea typeface="Fira Sans" pitchFamily="34" charset="-122"/>
                <a:cs typeface="Fira Sans" pitchFamily="34" charset="-120"/>
              </a:rPr>
              <a:t>Overall Functionality:</a:t>
            </a:r>
            <a:endParaRPr lang="en-US" sz="1200" dirty="0"/>
          </a:p>
        </p:txBody>
      </p:sp>
      <p:sp>
        <p:nvSpPr>
          <p:cNvPr id="16" name="Text 14"/>
          <p:cNvSpPr/>
          <p:nvPr/>
        </p:nvSpPr>
        <p:spPr>
          <a:xfrm>
            <a:off x="538758" y="6959679"/>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dirty="0">
                <a:solidFill>
                  <a:srgbClr val="DAD1E6"/>
                </a:solidFill>
                <a:latin typeface="Fira Sans" pitchFamily="34" charset="0"/>
                <a:ea typeface="Fira Sans" pitchFamily="34" charset="-122"/>
                <a:cs typeface="Fira Sans" pitchFamily="34" charset="-120"/>
              </a:rPr>
              <a:t>555 Timer produces continuous pulses.</a:t>
            </a:r>
            <a:endParaRPr lang="en-US" sz="1200" dirty="0"/>
          </a:p>
        </p:txBody>
      </p:sp>
      <p:sp>
        <p:nvSpPr>
          <p:cNvPr id="17" name="Text 15"/>
          <p:cNvSpPr/>
          <p:nvPr/>
        </p:nvSpPr>
        <p:spPr>
          <a:xfrm>
            <a:off x="538758" y="7259717"/>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dirty="0">
                <a:solidFill>
                  <a:srgbClr val="DAD1E6"/>
                </a:solidFill>
                <a:latin typeface="Fira Sans" pitchFamily="34" charset="0"/>
                <a:ea typeface="Fira Sans" pitchFamily="34" charset="-122"/>
                <a:cs typeface="Fira Sans" pitchFamily="34" charset="-120"/>
              </a:rPr>
              <a:t>Pulses shift the data inside 74HC595.</a:t>
            </a:r>
            <a:endParaRPr lang="en-US" sz="1200" dirty="0"/>
          </a:p>
        </p:txBody>
      </p:sp>
      <p:sp>
        <p:nvSpPr>
          <p:cNvPr id="18" name="Text 16"/>
          <p:cNvSpPr/>
          <p:nvPr/>
        </p:nvSpPr>
        <p:spPr>
          <a:xfrm>
            <a:off x="538758" y="7559754"/>
            <a:ext cx="13552884" cy="246221"/>
          </a:xfrm>
          <a:prstGeom prst="rect">
            <a:avLst/>
          </a:prstGeom>
          <a:noFill/>
          <a:ln/>
        </p:spPr>
        <p:txBody>
          <a:bodyPr wrap="none" lIns="0" tIns="0" rIns="0" bIns="0" rtlCol="0" anchor="t"/>
          <a:lstStyle/>
          <a:p>
            <a:pPr marL="685800" lvl="1" indent="-342900" algn="l">
              <a:lnSpc>
                <a:spcPts val="1900"/>
              </a:lnSpc>
              <a:buSzPct val="100000"/>
              <a:buChar char="•"/>
            </a:pPr>
            <a:r>
              <a:rPr lang="en-US" sz="1200" dirty="0">
                <a:solidFill>
                  <a:srgbClr val="DAD1E6"/>
                </a:solidFill>
                <a:latin typeface="Fira Sans" pitchFamily="34" charset="0"/>
                <a:ea typeface="Fira Sans" pitchFamily="34" charset="-122"/>
                <a:cs typeface="Fira Sans" pitchFamily="34" charset="-120"/>
              </a:rPr>
              <a:t>LEDs light up in a </a:t>
            </a:r>
            <a:r>
              <a:rPr lang="en-US" sz="1200" b="1" dirty="0">
                <a:solidFill>
                  <a:srgbClr val="DAD1E6"/>
                </a:solidFill>
                <a:latin typeface="Fira Sans" pitchFamily="34" charset="0"/>
                <a:ea typeface="Fira Sans" pitchFamily="34" charset="-122"/>
                <a:cs typeface="Fira Sans" pitchFamily="34" charset="-120"/>
              </a:rPr>
              <a:t>running pattern</a:t>
            </a:r>
            <a:r>
              <a:rPr lang="en-US" sz="1200" dirty="0">
                <a:solidFill>
                  <a:srgbClr val="DAD1E6"/>
                </a:solidFill>
                <a:latin typeface="Fira Sans" pitchFamily="34" charset="0"/>
                <a:ea typeface="Fira Sans" pitchFamily="34" charset="-122"/>
                <a:cs typeface="Fira Sans" pitchFamily="34" charset="-120"/>
              </a:rPr>
              <a:t> depending on the data stream.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28819"/>
            <a:ext cx="7370683"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Results: Observed Patterns</a:t>
            </a:r>
            <a:endParaRPr lang="en-US" sz="4450" dirty="0"/>
          </a:p>
        </p:txBody>
      </p:sp>
      <p:pic>
        <p:nvPicPr>
          <p:cNvPr id="3" name="Image 0" descr="preencoded.png"/>
          <p:cNvPicPr>
            <a:picLocks noChangeAspect="1"/>
          </p:cNvPicPr>
          <p:nvPr/>
        </p:nvPicPr>
        <p:blipFill>
          <a:blip r:embed="rId3"/>
          <a:stretch>
            <a:fillRect/>
          </a:stretch>
        </p:blipFill>
        <p:spPr>
          <a:xfrm>
            <a:off x="793790" y="2230874"/>
            <a:ext cx="566976" cy="566976"/>
          </a:xfrm>
          <a:prstGeom prst="rect">
            <a:avLst/>
          </a:prstGeom>
        </p:spPr>
      </p:pic>
      <p:sp>
        <p:nvSpPr>
          <p:cNvPr id="4" name="Text 1"/>
          <p:cNvSpPr/>
          <p:nvPr/>
        </p:nvSpPr>
        <p:spPr>
          <a:xfrm>
            <a:off x="1587579" y="219122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Chasing Effect</a:t>
            </a:r>
            <a:endParaRPr lang="en-US" sz="2200" dirty="0"/>
          </a:p>
        </p:txBody>
      </p:sp>
      <p:sp>
        <p:nvSpPr>
          <p:cNvPr id="5" name="Text 2"/>
          <p:cNvSpPr/>
          <p:nvPr/>
        </p:nvSpPr>
        <p:spPr>
          <a:xfrm>
            <a:off x="1587579" y="2681645"/>
            <a:ext cx="1224903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LEDs light up in a smooth, sequential order, creating a dynamic visual trail that appears to chase around the circuit. This effect demonstrates precise timing control and synchronization through the shift register.</a:t>
            </a:r>
            <a:endParaRPr lang="en-US" sz="1750" dirty="0"/>
          </a:p>
        </p:txBody>
      </p:sp>
      <p:pic>
        <p:nvPicPr>
          <p:cNvPr id="6" name="Image 1" descr="preencoded.png"/>
          <p:cNvPicPr>
            <a:picLocks noChangeAspect="1"/>
          </p:cNvPicPr>
          <p:nvPr/>
        </p:nvPicPr>
        <p:blipFill>
          <a:blip r:embed="rId4"/>
          <a:stretch>
            <a:fillRect/>
          </a:stretch>
        </p:blipFill>
        <p:spPr>
          <a:xfrm>
            <a:off x="793790" y="4127540"/>
            <a:ext cx="566976" cy="566976"/>
          </a:xfrm>
          <a:prstGeom prst="rect">
            <a:avLst/>
          </a:prstGeom>
        </p:spPr>
      </p:pic>
      <p:sp>
        <p:nvSpPr>
          <p:cNvPr id="7" name="Text 3"/>
          <p:cNvSpPr/>
          <p:nvPr/>
        </p:nvSpPr>
        <p:spPr>
          <a:xfrm>
            <a:off x="1587579" y="40878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Fading Effect</a:t>
            </a:r>
            <a:endParaRPr lang="en-US" sz="2200" dirty="0"/>
          </a:p>
        </p:txBody>
      </p:sp>
      <p:sp>
        <p:nvSpPr>
          <p:cNvPr id="8" name="Text 4"/>
          <p:cNvSpPr/>
          <p:nvPr/>
        </p:nvSpPr>
        <p:spPr>
          <a:xfrm>
            <a:off x="1587579" y="4578310"/>
            <a:ext cx="1224903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LEDs gradually brighten and dim in a soft, continuous fade, producing an appealing and fluid illumination transition. This pattern highlights the ability to create varying intensity levels to enhance visual effects.</a:t>
            </a:r>
            <a:endParaRPr lang="en-US" sz="1750" dirty="0"/>
          </a:p>
        </p:txBody>
      </p:sp>
      <p:pic>
        <p:nvPicPr>
          <p:cNvPr id="9" name="Image 2" descr="preencoded.png"/>
          <p:cNvPicPr>
            <a:picLocks noChangeAspect="1"/>
          </p:cNvPicPr>
          <p:nvPr/>
        </p:nvPicPr>
        <p:blipFill>
          <a:blip r:embed="rId5"/>
          <a:stretch>
            <a:fillRect/>
          </a:stretch>
        </p:blipFill>
        <p:spPr>
          <a:xfrm>
            <a:off x="793790" y="6024205"/>
            <a:ext cx="566976" cy="566976"/>
          </a:xfrm>
          <a:prstGeom prst="rect">
            <a:avLst/>
          </a:prstGeom>
        </p:spPr>
      </p:pic>
      <p:sp>
        <p:nvSpPr>
          <p:cNvPr id="10" name="Text 5"/>
          <p:cNvSpPr/>
          <p:nvPr/>
        </p:nvSpPr>
        <p:spPr>
          <a:xfrm>
            <a:off x="1587579" y="598455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Custom Patterns</a:t>
            </a:r>
            <a:endParaRPr lang="en-US" sz="2200" dirty="0"/>
          </a:p>
        </p:txBody>
      </p:sp>
      <p:sp>
        <p:nvSpPr>
          <p:cNvPr id="11" name="Text 6"/>
          <p:cNvSpPr/>
          <p:nvPr/>
        </p:nvSpPr>
        <p:spPr>
          <a:xfrm>
            <a:off x="1587579" y="6474976"/>
            <a:ext cx="12249031"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Unique LED sequences showcase creative designs tailored by varying the input data. These patterns illustrate the flexibility of the shift register to produce diverse and complex lighting behaviors for different applications.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6135" y="594836"/>
            <a:ext cx="5811083" cy="660440"/>
          </a:xfrm>
          <a:prstGeom prst="rect">
            <a:avLst/>
          </a:prstGeom>
          <a:noFill/>
          <a:ln/>
        </p:spPr>
        <p:txBody>
          <a:bodyPr wrap="none" lIns="0" tIns="0" rIns="0" bIns="0" rtlCol="0" anchor="t"/>
          <a:lstStyle/>
          <a:p>
            <a:pPr marL="0" indent="0" algn="l">
              <a:lnSpc>
                <a:spcPts val="5200"/>
              </a:lnSpc>
              <a:buNone/>
            </a:pPr>
            <a:r>
              <a:rPr lang="en-US" sz="4150" b="1" dirty="0">
                <a:solidFill>
                  <a:srgbClr val="F94CAF"/>
                </a:solidFill>
                <a:latin typeface="Inconsolata Bold" pitchFamily="34" charset="0"/>
                <a:ea typeface="Inconsolata Bold" pitchFamily="34" charset="-122"/>
                <a:cs typeface="Inconsolata Bold" pitchFamily="34" charset="-120"/>
              </a:rPr>
              <a:t>Challenges &amp; Solutions</a:t>
            </a:r>
            <a:endParaRPr lang="en-US" sz="4150" dirty="0"/>
          </a:p>
        </p:txBody>
      </p:sp>
      <p:sp>
        <p:nvSpPr>
          <p:cNvPr id="4" name="Shape 1"/>
          <p:cNvSpPr/>
          <p:nvPr/>
        </p:nvSpPr>
        <p:spPr>
          <a:xfrm>
            <a:off x="6226135" y="1572220"/>
            <a:ext cx="158472" cy="1809512"/>
          </a:xfrm>
          <a:prstGeom prst="roundRect">
            <a:avLst>
              <a:gd name="adj" fmla="val 20007"/>
            </a:avLst>
          </a:prstGeom>
          <a:solidFill>
            <a:srgbClr val="433550"/>
          </a:solidFill>
          <a:ln/>
        </p:spPr>
      </p:sp>
      <p:sp>
        <p:nvSpPr>
          <p:cNvPr id="5" name="Text 2"/>
          <p:cNvSpPr/>
          <p:nvPr/>
        </p:nvSpPr>
        <p:spPr>
          <a:xfrm>
            <a:off x="6701552" y="1572220"/>
            <a:ext cx="2641997" cy="330160"/>
          </a:xfrm>
          <a:prstGeom prst="rect">
            <a:avLst/>
          </a:prstGeom>
          <a:noFill/>
          <a:ln/>
        </p:spPr>
        <p:txBody>
          <a:bodyPr wrap="none" lIns="0" tIns="0" rIns="0" bIns="0" rtlCol="0" anchor="t"/>
          <a:lstStyle/>
          <a:p>
            <a:pPr marL="0" indent="0" algn="l">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Component Selection</a:t>
            </a:r>
            <a:endParaRPr lang="en-US" sz="2050" dirty="0"/>
          </a:p>
        </p:txBody>
      </p:sp>
      <p:sp>
        <p:nvSpPr>
          <p:cNvPr id="6" name="Text 3"/>
          <p:cNvSpPr/>
          <p:nvPr/>
        </p:nvSpPr>
        <p:spPr>
          <a:xfrm>
            <a:off x="6701552" y="2029182"/>
            <a:ext cx="7189113" cy="1352550"/>
          </a:xfrm>
          <a:prstGeom prst="rect">
            <a:avLst/>
          </a:prstGeom>
          <a:noFill/>
          <a:ln/>
        </p:spPr>
        <p:txBody>
          <a:bodyPr wrap="square" lIns="0" tIns="0" rIns="0" bIns="0" rtlCol="0" anchor="t"/>
          <a:lstStyle/>
          <a:p>
            <a:pPr marL="0" indent="0" algn="l">
              <a:lnSpc>
                <a:spcPts val="2650"/>
              </a:lnSpc>
              <a:buNone/>
            </a:pPr>
            <a:r>
              <a:rPr lang="en-US" sz="1650" dirty="0">
                <a:solidFill>
                  <a:srgbClr val="DAD1E6"/>
                </a:solidFill>
                <a:latin typeface="Fira Sans" pitchFamily="34" charset="0"/>
                <a:ea typeface="Fira Sans" pitchFamily="34" charset="-122"/>
                <a:cs typeface="Fira Sans" pitchFamily="34" charset="-120"/>
              </a:rPr>
              <a:t>Choosing compatible and reliable ICs and LEDs to ensure stable operation and longevity of the circuit was critical. This involved extensive research on the electrical characteristics and sourcing high-quality parts to prevent failure.</a:t>
            </a:r>
            <a:endParaRPr lang="en-US" sz="1650" dirty="0"/>
          </a:p>
        </p:txBody>
      </p:sp>
      <p:sp>
        <p:nvSpPr>
          <p:cNvPr id="7" name="Shape 4"/>
          <p:cNvSpPr/>
          <p:nvPr/>
        </p:nvSpPr>
        <p:spPr>
          <a:xfrm>
            <a:off x="6543080" y="3593068"/>
            <a:ext cx="158472" cy="1809512"/>
          </a:xfrm>
          <a:prstGeom prst="roundRect">
            <a:avLst>
              <a:gd name="adj" fmla="val 20007"/>
            </a:avLst>
          </a:prstGeom>
          <a:solidFill>
            <a:srgbClr val="433550"/>
          </a:solidFill>
          <a:ln/>
        </p:spPr>
      </p:sp>
      <p:sp>
        <p:nvSpPr>
          <p:cNvPr id="8" name="Text 5"/>
          <p:cNvSpPr/>
          <p:nvPr/>
        </p:nvSpPr>
        <p:spPr>
          <a:xfrm>
            <a:off x="7018496" y="3593068"/>
            <a:ext cx="2641997" cy="330160"/>
          </a:xfrm>
          <a:prstGeom prst="rect">
            <a:avLst/>
          </a:prstGeom>
          <a:noFill/>
          <a:ln/>
        </p:spPr>
        <p:txBody>
          <a:bodyPr wrap="none" lIns="0" tIns="0" rIns="0" bIns="0" rtlCol="0" anchor="t"/>
          <a:lstStyle/>
          <a:p>
            <a:pPr marL="0" indent="0" algn="l">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Circuit Debugging</a:t>
            </a:r>
            <a:endParaRPr lang="en-US" sz="2050" dirty="0"/>
          </a:p>
        </p:txBody>
      </p:sp>
      <p:sp>
        <p:nvSpPr>
          <p:cNvPr id="9" name="Text 6"/>
          <p:cNvSpPr/>
          <p:nvPr/>
        </p:nvSpPr>
        <p:spPr>
          <a:xfrm>
            <a:off x="7018496" y="4050030"/>
            <a:ext cx="6872168" cy="1352550"/>
          </a:xfrm>
          <a:prstGeom prst="rect">
            <a:avLst/>
          </a:prstGeom>
          <a:noFill/>
          <a:ln/>
        </p:spPr>
        <p:txBody>
          <a:bodyPr wrap="square" lIns="0" tIns="0" rIns="0" bIns="0" rtlCol="0" anchor="t"/>
          <a:lstStyle/>
          <a:p>
            <a:pPr marL="0" indent="0" algn="l">
              <a:lnSpc>
                <a:spcPts val="2650"/>
              </a:lnSpc>
              <a:buNone/>
            </a:pPr>
            <a:r>
              <a:rPr lang="en-US" sz="1650" dirty="0">
                <a:solidFill>
                  <a:srgbClr val="DAD1E6"/>
                </a:solidFill>
                <a:latin typeface="Fira Sans" pitchFamily="34" charset="0"/>
                <a:ea typeface="Fira Sans" pitchFamily="34" charset="-122"/>
                <a:cs typeface="Fira Sans" pitchFamily="34" charset="-120"/>
              </a:rPr>
              <a:t>Conducting systematic troubleshooting to identify and fix electrical and wiring issues required patience and precision. Techniques such as signal tracing and use of test equipment helped resolve unexpected behavior and shorts in the circuitry.</a:t>
            </a:r>
            <a:endParaRPr lang="en-US" sz="1650" dirty="0"/>
          </a:p>
        </p:txBody>
      </p:sp>
      <p:sp>
        <p:nvSpPr>
          <p:cNvPr id="10" name="Shape 7"/>
          <p:cNvSpPr/>
          <p:nvPr/>
        </p:nvSpPr>
        <p:spPr>
          <a:xfrm>
            <a:off x="6860143" y="5613916"/>
            <a:ext cx="158472" cy="1809512"/>
          </a:xfrm>
          <a:prstGeom prst="roundRect">
            <a:avLst>
              <a:gd name="adj" fmla="val 20007"/>
            </a:avLst>
          </a:prstGeom>
          <a:solidFill>
            <a:srgbClr val="433550"/>
          </a:solidFill>
          <a:ln/>
        </p:spPr>
      </p:sp>
      <p:sp>
        <p:nvSpPr>
          <p:cNvPr id="11" name="Text 8"/>
          <p:cNvSpPr/>
          <p:nvPr/>
        </p:nvSpPr>
        <p:spPr>
          <a:xfrm>
            <a:off x="7335560" y="5613916"/>
            <a:ext cx="3037046" cy="330160"/>
          </a:xfrm>
          <a:prstGeom prst="rect">
            <a:avLst/>
          </a:prstGeom>
          <a:noFill/>
          <a:ln/>
        </p:spPr>
        <p:txBody>
          <a:bodyPr wrap="none" lIns="0" tIns="0" rIns="0" bIns="0" rtlCol="0" anchor="t"/>
          <a:lstStyle/>
          <a:p>
            <a:pPr marL="0" indent="0" algn="l">
              <a:lnSpc>
                <a:spcPts val="2600"/>
              </a:lnSpc>
              <a:buNone/>
            </a:pPr>
            <a:r>
              <a:rPr lang="en-US" sz="2050" b="1" dirty="0">
                <a:solidFill>
                  <a:srgbClr val="DAD1E6"/>
                </a:solidFill>
                <a:latin typeface="Inconsolata Bold" pitchFamily="34" charset="0"/>
                <a:ea typeface="Inconsolata Bold" pitchFamily="34" charset="-122"/>
                <a:cs typeface="Inconsolata Bold" pitchFamily="34" charset="-120"/>
              </a:rPr>
              <a:t>Pattern Synchronization</a:t>
            </a:r>
            <a:endParaRPr lang="en-US" sz="2050" dirty="0"/>
          </a:p>
        </p:txBody>
      </p:sp>
      <p:sp>
        <p:nvSpPr>
          <p:cNvPr id="12" name="Text 9"/>
          <p:cNvSpPr/>
          <p:nvPr/>
        </p:nvSpPr>
        <p:spPr>
          <a:xfrm>
            <a:off x="7335560" y="6070878"/>
            <a:ext cx="6555105" cy="1352550"/>
          </a:xfrm>
          <a:prstGeom prst="rect">
            <a:avLst/>
          </a:prstGeom>
          <a:noFill/>
          <a:ln/>
        </p:spPr>
        <p:txBody>
          <a:bodyPr wrap="square" lIns="0" tIns="0" rIns="0" bIns="0" rtlCol="0" anchor="t"/>
          <a:lstStyle/>
          <a:p>
            <a:pPr marL="0" indent="0" algn="l">
              <a:lnSpc>
                <a:spcPts val="2650"/>
              </a:lnSpc>
              <a:buNone/>
            </a:pPr>
            <a:r>
              <a:rPr lang="en-US" sz="1650" dirty="0">
                <a:solidFill>
                  <a:srgbClr val="DAD1E6"/>
                </a:solidFill>
                <a:latin typeface="Fira Sans" pitchFamily="34" charset="0"/>
                <a:ea typeface="Fira Sans" pitchFamily="34" charset="-122"/>
                <a:cs typeface="Fira Sans" pitchFamily="34" charset="-120"/>
              </a:rPr>
              <a:t>Achieving precise timing coordination between the 555 Timer pulses and shift register data was essential for smooth and visually appealing LED sequences. Calibration and fine-tuning of frequency components ensured the patterns ran without glitches or flicker.</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85655"/>
          </a:xfrm>
          <a:prstGeom prst="rect">
            <a:avLst/>
          </a:prstGeom>
        </p:spPr>
      </p:pic>
      <p:sp>
        <p:nvSpPr>
          <p:cNvPr id="3" name="Text 0"/>
          <p:cNvSpPr/>
          <p:nvPr/>
        </p:nvSpPr>
        <p:spPr>
          <a:xfrm>
            <a:off x="667941" y="2911792"/>
            <a:ext cx="5725120" cy="596503"/>
          </a:xfrm>
          <a:prstGeom prst="rect">
            <a:avLst/>
          </a:prstGeom>
          <a:noFill/>
          <a:ln/>
        </p:spPr>
        <p:txBody>
          <a:bodyPr wrap="none" lIns="0" tIns="0" rIns="0" bIns="0" rtlCol="0" anchor="t"/>
          <a:lstStyle/>
          <a:p>
            <a:pPr marL="0" indent="0" algn="l">
              <a:lnSpc>
                <a:spcPts val="4650"/>
              </a:lnSpc>
              <a:buNone/>
            </a:pPr>
            <a:r>
              <a:rPr lang="en-US" sz="3750" b="1" dirty="0">
                <a:solidFill>
                  <a:srgbClr val="F94CAF"/>
                </a:solidFill>
                <a:latin typeface="Inconsolata Bold" pitchFamily="34" charset="0"/>
                <a:ea typeface="Inconsolata Bold" pitchFamily="34" charset="-122"/>
                <a:cs typeface="Inconsolata Bold" pitchFamily="34" charset="-120"/>
              </a:rPr>
              <a:t>Conclusion &amp; Future Work</a:t>
            </a:r>
            <a:endParaRPr lang="en-US" sz="3750" dirty="0"/>
          </a:p>
        </p:txBody>
      </p:sp>
      <p:sp>
        <p:nvSpPr>
          <p:cNvPr id="4" name="Shape 1"/>
          <p:cNvSpPr/>
          <p:nvPr/>
        </p:nvSpPr>
        <p:spPr>
          <a:xfrm>
            <a:off x="667941" y="4009192"/>
            <a:ext cx="429339" cy="429339"/>
          </a:xfrm>
          <a:prstGeom prst="roundRect">
            <a:avLst>
              <a:gd name="adj" fmla="val 6668"/>
            </a:avLst>
          </a:prstGeom>
          <a:solidFill>
            <a:srgbClr val="433550"/>
          </a:solidFill>
          <a:ln/>
        </p:spPr>
      </p:sp>
      <p:sp>
        <p:nvSpPr>
          <p:cNvPr id="5" name="Text 2"/>
          <p:cNvSpPr/>
          <p:nvPr/>
        </p:nvSpPr>
        <p:spPr>
          <a:xfrm>
            <a:off x="1288137" y="4009192"/>
            <a:ext cx="2385655" cy="29825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Project Summary</a:t>
            </a:r>
            <a:endParaRPr lang="en-US" sz="1850" dirty="0"/>
          </a:p>
        </p:txBody>
      </p:sp>
      <p:sp>
        <p:nvSpPr>
          <p:cNvPr id="6" name="Text 3"/>
          <p:cNvSpPr/>
          <p:nvPr/>
        </p:nvSpPr>
        <p:spPr>
          <a:xfrm>
            <a:off x="1288137" y="4421862"/>
            <a:ext cx="3684032" cy="610553"/>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Success in pattern generation and pin minimization.</a:t>
            </a:r>
            <a:endParaRPr lang="en-US" sz="1500" dirty="0"/>
          </a:p>
        </p:txBody>
      </p:sp>
      <p:sp>
        <p:nvSpPr>
          <p:cNvPr id="7" name="Text 4"/>
          <p:cNvSpPr/>
          <p:nvPr/>
        </p:nvSpPr>
        <p:spPr>
          <a:xfrm>
            <a:off x="1288137" y="5146834"/>
            <a:ext cx="3684032" cy="1221105"/>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We achieved efficient control of LED sequences using a minimal number of pins, demonstrating effective use of the 74HC595 shift register with the 555 Timer.</a:t>
            </a:r>
            <a:endParaRPr lang="en-US" sz="1500" dirty="0"/>
          </a:p>
        </p:txBody>
      </p:sp>
      <p:sp>
        <p:nvSpPr>
          <p:cNvPr id="8" name="Text 5"/>
          <p:cNvSpPr/>
          <p:nvPr/>
        </p:nvSpPr>
        <p:spPr>
          <a:xfrm>
            <a:off x="1288137" y="6482358"/>
            <a:ext cx="3684032" cy="1221105"/>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The resulting patterns were visually appealing and validated the theoretical design principles implemented in the circuit.</a:t>
            </a:r>
            <a:endParaRPr lang="en-US" sz="1500" dirty="0"/>
          </a:p>
        </p:txBody>
      </p:sp>
      <p:sp>
        <p:nvSpPr>
          <p:cNvPr id="9" name="Shape 6"/>
          <p:cNvSpPr/>
          <p:nvPr/>
        </p:nvSpPr>
        <p:spPr>
          <a:xfrm>
            <a:off x="5163026" y="4009192"/>
            <a:ext cx="429339" cy="429339"/>
          </a:xfrm>
          <a:prstGeom prst="roundRect">
            <a:avLst>
              <a:gd name="adj" fmla="val 6668"/>
            </a:avLst>
          </a:prstGeom>
          <a:solidFill>
            <a:srgbClr val="433550"/>
          </a:solidFill>
          <a:ln/>
        </p:spPr>
      </p:sp>
      <p:sp>
        <p:nvSpPr>
          <p:cNvPr id="10" name="Text 7"/>
          <p:cNvSpPr/>
          <p:nvPr/>
        </p:nvSpPr>
        <p:spPr>
          <a:xfrm>
            <a:off x="5783223" y="4009192"/>
            <a:ext cx="2385655" cy="29825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Future Enhancements</a:t>
            </a:r>
            <a:endParaRPr lang="en-US" sz="1850" dirty="0"/>
          </a:p>
        </p:txBody>
      </p:sp>
      <p:sp>
        <p:nvSpPr>
          <p:cNvPr id="11" name="Text 8"/>
          <p:cNvSpPr/>
          <p:nvPr/>
        </p:nvSpPr>
        <p:spPr>
          <a:xfrm>
            <a:off x="5783223" y="4421862"/>
            <a:ext cx="3684032" cy="610553"/>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Integration with microcontrollers and larger displays.</a:t>
            </a:r>
            <a:endParaRPr lang="en-US" sz="1500" dirty="0"/>
          </a:p>
        </p:txBody>
      </p:sp>
      <p:sp>
        <p:nvSpPr>
          <p:cNvPr id="12" name="Text 9"/>
          <p:cNvSpPr/>
          <p:nvPr/>
        </p:nvSpPr>
        <p:spPr>
          <a:xfrm>
            <a:off x="5783223" y="5146834"/>
            <a:ext cx="3684032" cy="1221105"/>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Future development includes connecting the system to microcontrollers such as Arduino or Raspberry Pi for advanced programmable control.</a:t>
            </a:r>
            <a:endParaRPr lang="en-US" sz="1500" dirty="0"/>
          </a:p>
        </p:txBody>
      </p:sp>
      <p:sp>
        <p:nvSpPr>
          <p:cNvPr id="13" name="Text 10"/>
          <p:cNvSpPr/>
          <p:nvPr/>
        </p:nvSpPr>
        <p:spPr>
          <a:xfrm>
            <a:off x="5783223" y="6482358"/>
            <a:ext cx="3684032" cy="1221105"/>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Expanding to larger LED matrices and incorporating wireless communication can offer more complex and interactive lighting applications.</a:t>
            </a:r>
            <a:endParaRPr lang="en-US" sz="1500" dirty="0"/>
          </a:p>
        </p:txBody>
      </p:sp>
      <p:sp>
        <p:nvSpPr>
          <p:cNvPr id="14" name="Shape 11"/>
          <p:cNvSpPr/>
          <p:nvPr/>
        </p:nvSpPr>
        <p:spPr>
          <a:xfrm>
            <a:off x="9658112" y="4009192"/>
            <a:ext cx="429339" cy="429339"/>
          </a:xfrm>
          <a:prstGeom prst="roundRect">
            <a:avLst>
              <a:gd name="adj" fmla="val 6668"/>
            </a:avLst>
          </a:prstGeom>
          <a:solidFill>
            <a:srgbClr val="433550"/>
          </a:solidFill>
          <a:ln/>
        </p:spPr>
      </p:sp>
      <p:sp>
        <p:nvSpPr>
          <p:cNvPr id="15" name="Text 12"/>
          <p:cNvSpPr/>
          <p:nvPr/>
        </p:nvSpPr>
        <p:spPr>
          <a:xfrm>
            <a:off x="10278308" y="4009192"/>
            <a:ext cx="2385655" cy="29825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Applications</a:t>
            </a:r>
            <a:endParaRPr lang="en-US" sz="1850" dirty="0"/>
          </a:p>
        </p:txBody>
      </p:sp>
      <p:sp>
        <p:nvSpPr>
          <p:cNvPr id="16" name="Text 13"/>
          <p:cNvSpPr/>
          <p:nvPr/>
        </p:nvSpPr>
        <p:spPr>
          <a:xfrm>
            <a:off x="10278308" y="4421862"/>
            <a:ext cx="3684032" cy="610553"/>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Commercial use in decor, events, and interactive art.</a:t>
            </a:r>
            <a:endParaRPr lang="en-US" sz="1500" dirty="0"/>
          </a:p>
        </p:txBody>
      </p:sp>
      <p:sp>
        <p:nvSpPr>
          <p:cNvPr id="17" name="Text 14"/>
          <p:cNvSpPr/>
          <p:nvPr/>
        </p:nvSpPr>
        <p:spPr>
          <a:xfrm>
            <a:off x="10278308" y="5146834"/>
            <a:ext cx="3684032" cy="915829"/>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The demonstrated technology can be utilized in architectural lighting, stage effects, and immersive art installations.</a:t>
            </a:r>
            <a:endParaRPr lang="en-US" sz="1500" dirty="0"/>
          </a:p>
        </p:txBody>
      </p:sp>
      <p:sp>
        <p:nvSpPr>
          <p:cNvPr id="18" name="Text 15"/>
          <p:cNvSpPr/>
          <p:nvPr/>
        </p:nvSpPr>
        <p:spPr>
          <a:xfrm>
            <a:off x="10278308" y="6177082"/>
            <a:ext cx="3684032" cy="1221105"/>
          </a:xfrm>
          <a:prstGeom prst="rect">
            <a:avLst/>
          </a:prstGeom>
          <a:noFill/>
          <a:ln/>
        </p:spPr>
        <p:txBody>
          <a:bodyPr wrap="square" lIns="0" tIns="0" rIns="0" bIns="0" rtlCol="0" anchor="t"/>
          <a:lstStyle/>
          <a:p>
            <a:pPr marL="0" indent="0" algn="l">
              <a:lnSpc>
                <a:spcPts val="2400"/>
              </a:lnSpc>
              <a:buNone/>
            </a:pPr>
            <a:r>
              <a:rPr lang="en-US" sz="1500" dirty="0">
                <a:solidFill>
                  <a:srgbClr val="DAD1E6"/>
                </a:solidFill>
                <a:latin typeface="Fira Sans" pitchFamily="34" charset="0"/>
                <a:ea typeface="Fira Sans" pitchFamily="34" charset="-122"/>
                <a:cs typeface="Fira Sans" pitchFamily="34" charset="-120"/>
              </a:rPr>
              <a:t>Its scalability and programmability make it suitable for customizable and dynamic environments in commercial and creative industries.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1419</Words>
  <Application>Microsoft Office PowerPoint</Application>
  <PresentationFormat>Custom</PresentationFormat>
  <Paragraphs>107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Fira Sans</vt:lpstr>
      <vt:lpstr>Inconsolata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ADHIL HASHIM</cp:lastModifiedBy>
  <cp:revision>2</cp:revision>
  <dcterms:created xsi:type="dcterms:W3CDTF">2025-04-27T12:43:25Z</dcterms:created>
  <dcterms:modified xsi:type="dcterms:W3CDTF">2026-10-19T20:32:51Z</dcterms:modified>
</cp:coreProperties>
</file>